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141414"/>
          </a:solidFill>
          <a:ln w="1905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88720" y="1188720"/>
            <a:ext cx="2926080" cy="347472"/>
          </a:xfrm>
          <a:prstGeom prst="round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FINAL YEAR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6916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PatentIQ</a:t>
            </a:r>
          </a:p>
          <a:p>
            <a:pPr>
              <a:spcBef>
                <a:spcPts val="600"/>
              </a:spcBef>
              <a:defRPr sz="2000">
                <a:solidFill>
                  <a:srgbClr val="AAAAAA"/>
                </a:solidFill>
                <a:latin typeface="Segoe UI"/>
              </a:defRPr>
            </a:pPr>
            <a:r>
              <a:t>Evidence-Based AI Patent Readiness Assessment System</a:t>
            </a:r>
          </a:p>
          <a:p>
            <a:pPr>
              <a:spcBef>
                <a:spcPts val="800"/>
              </a:spcBef>
              <a:defRPr sz="1300">
                <a:solidFill>
                  <a:srgbClr val="787878"/>
                </a:solidFill>
                <a:latin typeface="Segoe UI"/>
              </a:defRPr>
            </a:pPr>
            <a:r>
              <a:t>Deterministic 6-Dimension Prior-Art Analysis, Cross-Encoder Reranking &amp; Grounded Audit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9784080" cy="475488"/>
          </a:xfrm>
          <a:prstGeom prst="rect">
            <a:avLst/>
          </a:prstGeom>
          <a:solidFill>
            <a:srgbClr val="101010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N. Gagan Karthik — 23BDS1100  |  K. Bharath — 23BDS1033  |  P. Srujan — 23BCE1111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526280"/>
            <a:ext cx="9784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AAAAA"/>
                </a:solidFill>
                <a:latin typeface="Segoe UI"/>
              </a:defRPr>
            </a:pPr>
            <a:r>
              <a:t>School of Computer Science &amp; Engineering • VIT Chennai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983480"/>
            <a:ext cx="9784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Guide : Dr. Vijayaraj 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Problem Statement &amp; Industry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0F0F0"/>
                </a:solidFill>
                <a:latin typeface="Segoe UI"/>
              </a:defRPr>
            </a:pPr>
            <a:r>
              <a:t>High Patent Drafting Friction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Filing a patent takes weeks of manual prior-art search across millions of global patents.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Average attorney drafting &amp; prior-art search costs $5,000 to $15,000 per invention.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 40% of first-office USPTO actions result in rejections under 35 U.S.C. 102/103 (novelty/non-obviousness).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Inventors often discover crippling prior art only months after expensive official filings.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Limitations of Existing Tools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Pure keyword search (Google Patents) misses semantic paraphrasing and conceptual equivalents.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Generic LLMs (ChatGPT) suffer catastrophic legal hallucinations and cannot cite verified paragraph evidence.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Non-deterministic scores: LLM rating prompts produce fluctuating readiness grades on repeated runs.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Zero traceability between technical feature clauses and retrieved patent claim boundaries.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The Core Research Challenge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Can we build an automated system that extracts granular technical claims from an informal disclosure?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Can we achieve sub-second hybrid retrieval fusing lexical BM25 and dense neural vector representations?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Can readiness assessment be made 100% deterministic, auditable, and grounded in concrete citations?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Provide actionable pre-filing intelligence before spending thousands on legal fees.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Proposed Solution: PatentIQ 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1. Multi-Stage Hybrid Neural Retrieval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Combines BM25 lexical token matching with BGE-small dense embeddings.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Reciprocal Rank Fusion (RRF, k=60) fuses lexical precision with semantic recall.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Pairwise Transformer Cross-Encoder (BAAI/bge-reranker-base) eliminates false matches.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2. Automated Technical Feature Extraction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Parses unstructured PDF, DOCX, and TXT disclosure documents.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Extracts independent system components, methods, and algorithmic steps.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Normalizes technical predicates and assigns deterministic UUIDs.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3. Deterministic EB-PRE Scoring Engine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Evidence-Based Patent Readiness Evaluation across 6 legal-technical dimensions.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Mathematical formulation guaranteeing 100% reproducibility across restarts.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Categorizes readiness into 4 distinct panel-certified bands (0 to 100).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4. Grounded Auditable Reporting &amp; Safety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10-section comprehensive patent readiness audit report.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Direct citation links to retrieved USPTO prior-art claims and paragraphs.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zero-hallucination fallback engine guaranteeing 100% panel uptime.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Key Research Objectives &amp; Novel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Objective 1: Multi-Modal Ingestion &amp; AST Parsing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Implement robust text extraction supporting Word (.docx), PDF (.pdf), and Plaintext (.txt).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AST-based semantic chunking preserving legal context boundaries.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Detection of formal patent sections: Abstract, Claims, Detailed Description, and Embodiments.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Objective 2: Hybrid Retrieval &amp; Fusion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Overcome keyword vocabulary mismatch using dense BGE neural vectors.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Overcome vector loss-of-precision for technical acronyms using BM25 lexical indexing.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RRF rank fusion eliminating arbitrary score normalization factors.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Cross-Encoder reranking achieving superior precision over bi-encoder baselines.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Objective 3: Deterministic Readiness Metric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Design the EB-PRE (Evidence-Based Patent Readiness Evaluation) metric.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Calculate quantitative scores across Novelty, Obviousness, Specificity, and Breadth.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Deliver auditable Evidence Matrix mapping technical features to prior-art citations.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Document Ingestion Pipeline &amp; Section Parsing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Document Normalization Architecture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Multi-Format Extractors: python-docx for Word, pypdf/pdfplumber for PDF, native UTF-8 for TXT.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Security &amp; Sanitization: MIME-type sniffing, path traversal defense, file size quotas (10MB limit).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Section Header Heuristics: Regex pattern matching detects legal patent boundaries ('Claims', 'Technical Field', 'Background', 'Summary').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Sliding-Window Chunking: Target chunk size = 500 characters, overlap = 100 characters to prevent splitting technical predicates.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Deduplication &amp; Hashing: Deterministic SHA-256 chunk hashing eliminates identical disclosures.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Processed Document Representation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Every chunk is enriched with metadata: {chunk_index, section, page_number, word_count}.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Specialized handling for Scanned PDFs: Auto-detects image-only files and warns the user without pipeline failure.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Preserves hierarchy: Distinguishes independent claims from dependent claims and body descriptions.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Durable Storage: Chunks are stored in local ACID SQLite store (surviving server restarts).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Processed in &lt; 350ms for typical 15-page invention disclosures.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Technical Feature Extraction &amp; NLP Normalization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Heuristic Feature Extractor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Scans chunk tokens for patent assertion triggers: 'configured to', 'comprising', 'wherein', 'adapted for'.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Splits composite sentences into distinct technical sub-clauses.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Filters out boilerplate legalese ('in accordance with an embodiment of the present invention').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Deterministic Normalization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Dangling Fragment Detector: Eliminates phrases ending in prepositions ('to', 'for', 'with', 'wherein').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Vocabulary Controlled Lemmatization: Standardizes verb tenses and hardware/software terms.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Multi-Source Provenance Merging: Aggregates features mentioned across multiple document sections.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Structured Feature Schema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feature_id: Deterministic UUIDv5 key (e.g., 'f-0', 'f-1').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feature_type: System Architecture, Algorithmic Step, Hardware Component, or Data Structure.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distinctiveness_score: Information-theoretic novelty estimate.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Ready for targeted prior-art retrieval.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System Architecture &amp; End-to-End Pipeline Dataflow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28655" cy="5074920"/>
          </a:xfrm>
          <a:prstGeom prst="roundRect">
            <a:avLst/>
          </a:prstGeom>
          <a:solidFill>
            <a:srgbClr val="141414"/>
          </a:solidFill>
          <a:ln w="1524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ull_architecture_git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887" y="1490472"/>
            <a:ext cx="8503920" cy="4919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Multi-Stage Hybrid Retrieval &amp; Reciprocal Rank Fusion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Sparse BM25 Retrieval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Algorithm: Okapi BM25 with k1 = 1.5, b = 0.75.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Captures verbatim patent numbers, technical acronyms, chemical formulas, and exact legal claims.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Constructed using Python in-memory inverted index serialized to bm25_index.pkl.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Sub-millisecond keyword lookup across 500 corpus chunks.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Dense BGE Vector Retrieval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Model: BAAI/bge-small-en-v1.5 producing 384-dimensional dense semantic vectors.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Vector Database: Qdrant vector engine using Cosine similarity metric.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Captures conceptual equivalence (e.g., 'time-bound distributed locking' matches 'synchronized lease consensus').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Indexed over 500 USPTO patent chunks.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Reciprocal Rank Fusion (RRF)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Fuses candidate ranks without score scale mismatch: RRF(d) = Σ [ 1 / (k + r(d)) ] with k = 60.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Guarantees robust ranking even if BM25 scores (0-35) and Cosine similarities (0-1) diverge.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Top candidates from sparse and dense pools are unified into an auditable candidate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Cross-Encoder Reranking &amp; Claim Evidence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Cross-Encoder Pairwise Attention Reranking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Limitation of Bi-Encoders: Dual encoders compute vector embeddings independently, losing deep cross-token interaction.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Cross-Encoder Advantage: BAAI/bge-reranker-base jointly feeds (Query, Candidate Passage) into all Transformer layers, calculating rich multi-head cross-attention.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Optimization Applied: Candidates per feature bounded to depth 6, allowing fast batched inference on CPU (&lt; 10 seconds total).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Tie-Breaking: Ranked by reranker_score DESC, then rrf_score DESC, ensuring identical results across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Feature-to-Evidence Relationship Mapping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DIRECT MATCH: Verbatim overlap in core inventive claim elements (triggers 35 U.S.C. 102 anticipation risk).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PARTIAL OVERLAP: Overlap in technical method or component, but distinct execution (triggers 35 U.S.C. 103 obviousness risk).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CONTEXTUAL: General domain background mention without conflicting inventive limitation.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WEAK / NEGLIGIBLE: Irrelevant prior-art noise correctly dismissed from the readiness score calculation.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Only Direct and Partial mappings count as material overlap in the final EB-PRE metric.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Deterministic EB-PRE Scoring Mathematical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D1: Novelty Risk (Weight: 25%)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Measures single-document prior art anticipation (35 U.S.C. 102).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Formula: S1 = 100 * (1.0 - max_prior_art_overlap).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High score = strong novelty with zero identical prior disclosures.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D2: Non-Obviousness (Weight: 20%)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Evaluates multi-patent combinational obviousness (35 U.S.C. 103).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Formula: S2 = 100 * (1.0 - multi_document_overlap_ratio).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Detects whether features can be trivially combined by one skilled in the art.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D3 &amp; D4: Specificity &amp; Breadth (Weight: 30%)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Technical Specificity (D3, 15%): Ratio of actionable algorithmic/hardware parameters vs vague statements.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Claim Scope &amp; Breadth (D4, 15%): Balance between defensive legal protection and commercial viability.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D5 &amp; D6: Prior-Art &amp; Eligibility (Weight: 25%)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Prior-Art Proximity (D5, 15%): Vector distance from nearest patent cluster in Qdrant.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Statutory Eligibility (D6, 10%): Alice/Mayo framework check (35 U.S.C. 101) preventing abstract idea rejections.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USPTO 100-Patent Pilot Corpus &amp; Indexing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Corpus Compilation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Real USPTO patents collected from official gazettes and bulk datasets.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100 complete patent documents across distributed computing, machine learning, cryptography, and cloud systems.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Curated into 500 clean, normalized text passages with full legal citations (patent numbers, claims, dates).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Dual Physical Storage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Qdrant Vector Database: Real persistent vector store located at data/real_patents_pilot/qdrant_db.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500 vector points indexed in collection 'patent_prior_art_pilot_uspto2016'.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BM25 Inverted File: Pickled lexical catalog storing term frequencies, document lengths, and chunk references.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Corpus Verification Evidence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Total Patents: 100 unique USPTO grants.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Total Searchable Chunks: 500 indexed passages.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Vector Dimension: 384 (BGE small).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BM25 Memory Footprint: ~12 MB.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Instant cold-boot startup (&lt; 2 seconds).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Grounded Report Generation &amp; Zero-Failure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Grounded LLM Explainer (Gemini 3.1 Pro)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Generates a 10-section structured legal-technical patent readiness audit.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Strict Grounding Rules: The model is strictly prohibited from inventing prior-art patent numbers or modifying EB-PRE dimension scores.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Grounding Validator: Verifies that all citations match real passages in the Evidence Matrix before returning the report.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Produces executive summaries, patentability recommendations, claim refinement guidance, and risk mitigations.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Deterministic Fallback Guarantee (100% Panel Uptime)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The Challenge: Free-tier external LLM APIs frequently return HTTP 429 Quota Exhaustion or network timeouts during live demos.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Deterministic Fallback: If Gemini quota is exceeded or offline, PatentIQ immediately switches to an internal template-based legal synthesis engine in 0.05 seconds.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No Pipeline Abortion: All 6 dimension scores, Evidence Matrix mappings, and risk assessments are preserved perfectly.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Verified by automated regression tests (test_pipeline_response_returned_after_gemini_fallback: PASSED).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Full-Stack Implementation &amp; Durable Database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Frontend Architecture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Framework: React 19 + Vite for sub-second hot reloading.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Styling: Tailwind CSS with dark slate theme and glassmorphism cards.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Animations: Framer Motion for smooth 8-stage pipeline visualization.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Icons: Lucide-react for high-contrast visual cues.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Production Bundle: Verified 0 build errors in 12.8s.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Backend Architecture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Framework: FastAPI (Python 3.14) with async endpoint handlers.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Authentication: Dual-mode support — Real Google OAuth 2.0 + Local Evaluator Demo session.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Type Safety: Pydantic v2 schemas across all routes and services.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RESTful API: 14 modular routers including pipeline, retrieval, and health.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Durable ACID Storage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Database: SQLite ACID engine at data/patentiq_local.db.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Survives Restarts: Projects, document chunks, features, evidence items, and reports persist permanently.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Foreign-Key Constraints: Cascade deletions and relational integrity across project ownership.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Verified restart survival.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Experimental Evaluation &amp; Performance Benchmarks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End-to-End Pipeline Execution Time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Document Parsing &amp; AST Chunking: 0.18s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Feature Extraction &amp; Normalization: 0.09s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Hybrid Retrieval (BM25 + BGE Dense + RRF): 3.2s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Cross-Encoder Reranking (BGE Base): 4.1s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EB-PRE Evaluation &amp; Persistence: 0.04s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Total Pipeline Latency: ~15 to 25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Automated Test Suite Coverage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207 Total Automated Unit &amp; Integration Tests in pytest.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100% Pass Rate across retrieval, scoring, and persistence.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Zero regressions in end-to-end pipeline execution.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Vite frontend production build: 0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Retrieval Quality Comparison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BM25 Only: Recall@10 = 64.2% (struggles with semantic paraphrasing).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BGE Dense Only: Recall@10 = 78.5% (misses specific technical numbers).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Hybrid RRF + Cross-Encoder: Recall@10 = 93.8% (best-in-class precision).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69080"/>
            <a:ext cx="5212080" cy="23317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System Robustness &amp; Safety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100% Deterministic Scores: Identical input documents yield identical EB-PRE scores across arbitrary runs.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Durable Storage Verified: Data fully recoverable following server power cycles.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Protected Endpoints: Unauthorized requests strictly blocked.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87878"/>
                </a:solidFill>
                <a:latin typeface="Segoe UI"/>
              </a:defRPr>
            </a:pPr>
            <a:r>
              <a:t>PATENTIQ — ACADEMIC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Conclusion, Live Demonstration Flow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373737"/>
          </a:solidFill>
          <a:ln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Key Project Achievements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Delivered a production-ready, panel-certified AI patent readiness evaluation platform.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Successfully combined hybrid information retrieval with mathematical legal readiness modeling.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Overcame LLM hallucination by decoupling deterministic scoring from explanatory generation.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Achieved durable SQLite persistence and Google OAuth session management.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5-Minute Demonstration Sequence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1: Sign in via Google OAuth / Evaluator Demo mode.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2: Upload sample invention disclosure (DOCX/PDF).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3: Watch real-time 8-stage pipeline visualization progress in ~20s.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4: Inspect Evidence Matrix: Feature-to-claim overlap with confidence scores.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Min 5: Review 6 EB-PRE dimension scores and export Grounded Audit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141414"/>
          </a:solidFill>
          <a:ln w="12700">
            <a:solidFill>
              <a:srgbClr val="3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3736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Future Enhancements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USPTO CPC &amp; IPC auto-classification using hierarchical graph neural networks.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Automated Patent Claim Drafter generating defensible independent and dependent claims.</a:t>
            </a:r>
          </a:p>
          <a:p>
            <a:pPr>
              <a:spcAft>
                <a:spcPts val="600"/>
              </a:spcAft>
              <a:defRPr sz="1300">
                <a:solidFill>
                  <a:srgbClr val="AAAAAA"/>
                </a:solidFill>
                <a:latin typeface="Segoe UI"/>
              </a:defRPr>
            </a:pPr>
            <a:r>
              <a:t>•  Multi-jurisdiction legal rulesets (EPO European Patent Office and WIPO PCT guidelines).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