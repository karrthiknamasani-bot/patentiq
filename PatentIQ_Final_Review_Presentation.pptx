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731520"/>
            <a:ext cx="10728655" cy="5394960"/>
          </a:xfrm>
          <a:prstGeom prst="rect">
            <a:avLst/>
          </a:prstGeom>
          <a:solidFill>
            <a:srgbClr val="141414"/>
          </a:solidFill>
          <a:ln w="19050">
            <a:solidFill>
              <a:srgbClr val="3737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188720" y="1188720"/>
            <a:ext cx="2926080" cy="347472"/>
          </a:xfrm>
          <a:prstGeom prst="roundRect">
            <a:avLst/>
          </a:prstGeom>
          <a:solidFill>
            <a:srgbClr val="373737"/>
          </a:solidFill>
          <a:ln>
            <a:solidFill>
              <a:srgbClr val="3737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FINAL YEAR CAPSTONE PROJECT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1691640"/>
            <a:ext cx="97840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400" b="1">
                <a:solidFill>
                  <a:srgbClr val="FFFFFF"/>
                </a:solidFill>
                <a:latin typeface="Segoe UI"/>
              </a:defRPr>
            </a:pPr>
            <a:r>
              <a:t>PatentIQ</a:t>
            </a:r>
          </a:p>
          <a:p>
            <a:pPr>
              <a:spcBef>
                <a:spcPts val="600"/>
              </a:spcBef>
              <a:defRPr sz="2000">
                <a:solidFill>
                  <a:srgbClr val="AAAAAA"/>
                </a:solidFill>
                <a:latin typeface="Segoe UI"/>
              </a:defRPr>
            </a:pPr>
            <a:r>
              <a:t>Evidence-Based AI Patent Readiness Assessment System</a:t>
            </a:r>
          </a:p>
          <a:p>
            <a:pPr>
              <a:spcBef>
                <a:spcPts val="800"/>
              </a:spcBef>
              <a:defRPr sz="1300">
                <a:solidFill>
                  <a:srgbClr val="787878"/>
                </a:solidFill>
                <a:latin typeface="Segoe UI"/>
              </a:defRPr>
            </a:pPr>
            <a:r>
              <a:t>Deterministic 6-Dimension Prior-Art Analysis, Cross-Encoder Reranking &amp; Grounded Audit Reporting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1188720" y="3931920"/>
            <a:ext cx="9784080" cy="1737360"/>
          </a:xfrm>
          <a:prstGeom prst="rect">
            <a:avLst/>
          </a:prstGeom>
          <a:solidFill>
            <a:srgbClr val="101010"/>
          </a:solidFill>
          <a:ln w="12700">
            <a:solidFill>
              <a:srgbClr val="3737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4069080"/>
            <a:ext cx="457200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787878"/>
                </a:solidFill>
                <a:latin typeface="Segoe UI"/>
              </a:defRPr>
            </a:pPr>
            <a:r>
              <a:t>CANDIDATE DETAILS</a:t>
            </a:r>
          </a:p>
          <a:p>
            <a:pPr>
              <a:defRPr sz="1600" b="1">
                <a:solidFill>
                  <a:srgbClr val="FFFFFF"/>
                </a:solidFill>
                <a:latin typeface="Segoe UI"/>
              </a:defRPr>
            </a:pPr>
            <a:r>
              <a:t>N. GAGAN KARTHIK</a:t>
            </a:r>
          </a:p>
          <a:p>
            <a:pPr>
              <a:defRPr sz="1200">
                <a:solidFill>
                  <a:srgbClr val="AAAAAA"/>
                </a:solidFill>
                <a:latin typeface="Segoe UI"/>
              </a:defRPr>
            </a:pPr>
            <a:r>
              <a:t>Register No: 23BDS1100</a:t>
            </a:r>
            <a:br/>
            <a:r>
              <a:t>B.Tech. Computer Science and Engineering</a:t>
            </a:r>
            <a:br/>
            <a:r>
              <a:t>(Specialization in Data Science)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4069080"/>
            <a:ext cx="457200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787878"/>
                </a:solidFill>
                <a:latin typeface="Segoe UI"/>
              </a:defRPr>
            </a:pPr>
            <a:r>
              <a:t>PROJECT SUPERVISOR &amp; GUIDE</a:t>
            </a:r>
          </a:p>
          <a:p>
            <a:pPr>
              <a:defRPr sz="1600" b="1">
                <a:solidFill>
                  <a:srgbClr val="FFFFFF"/>
                </a:solidFill>
                <a:latin typeface="Segoe UI"/>
              </a:defRPr>
            </a:pPr>
            <a:r>
              <a:t>Dr. VIJAYRAJ J</a:t>
            </a:r>
          </a:p>
          <a:p>
            <a:pPr>
              <a:defRPr sz="1200">
                <a:solidFill>
                  <a:srgbClr val="AAAAAA"/>
                </a:solidFill>
                <a:latin typeface="Segoe UI"/>
              </a:defRPr>
            </a:pPr>
            <a:r>
              <a:t>Department of Data Science</a:t>
            </a:r>
            <a:br/>
            <a:r>
              <a:t>School of Computer Science and Engineering (SCOPE)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787878"/>
                </a:solidFill>
                <a:latin typeface="Segoe UI"/>
              </a:defRPr>
            </a:pPr>
            <a:r>
              <a:t>PATENTIQ — ACADEMIC FINAL REVIEW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Segoe UI"/>
              </a:defRPr>
            </a:pPr>
            <a:r>
              <a:t>Problem Statement &amp; Industry Motivation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25880"/>
            <a:ext cx="10698480" cy="18288"/>
          </a:xfrm>
          <a:prstGeom prst="rect">
            <a:avLst/>
          </a:prstGeom>
          <a:solidFill>
            <a:srgbClr val="373737"/>
          </a:solidFill>
          <a:ln>
            <a:solidFill>
              <a:srgbClr val="3737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3383280" cy="4846320"/>
          </a:xfrm>
          <a:prstGeom prst="roundRect">
            <a:avLst/>
          </a:prstGeom>
          <a:solidFill>
            <a:srgbClr val="141414"/>
          </a:solidFill>
          <a:ln w="12700">
            <a:solidFill>
              <a:srgbClr val="3737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737360"/>
            <a:ext cx="29260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F0F0F0"/>
                </a:solidFill>
                <a:latin typeface="Segoe UI"/>
              </a:defRPr>
            </a:pPr>
            <a:r>
              <a:t>High Patent Drafting Friction</a:t>
            </a:r>
          </a:p>
          <a:p>
            <a:pPr>
              <a:spcAft>
                <a:spcPts val="600"/>
              </a:spcAft>
              <a:defRPr sz="1300">
                <a:solidFill>
                  <a:srgbClr val="AAAAAA"/>
                </a:solidFill>
                <a:latin typeface="Segoe UI"/>
              </a:defRPr>
            </a:pPr>
            <a:r>
              <a:t>•  Filing a patent takes weeks of manual prior-art search across millions of global patents.</a:t>
            </a:r>
          </a:p>
          <a:p>
            <a:pPr>
              <a:spcAft>
                <a:spcPts val="600"/>
              </a:spcAft>
              <a:defRPr sz="1300">
                <a:solidFill>
                  <a:srgbClr val="AAAAAA"/>
                </a:solidFill>
                <a:latin typeface="Segoe UI"/>
              </a:defRPr>
            </a:pPr>
            <a:r>
              <a:t>•  Average attorney drafting &amp; prior-art search costs $5,000 to $15,000 per invention.</a:t>
            </a:r>
          </a:p>
          <a:p>
            <a:pPr>
              <a:spcAft>
                <a:spcPts val="600"/>
              </a:spcAft>
              <a:defRPr sz="1300">
                <a:solidFill>
                  <a:srgbClr val="AAAAAA"/>
                </a:solidFill>
                <a:latin typeface="Segoe UI"/>
              </a:defRPr>
            </a:pPr>
            <a:r>
              <a:t>•  Over 40% of first-office USPTO actions result in rejections under 35 U.S.C. 102/103 (novelty/non-obviousness).</a:t>
            </a:r>
          </a:p>
          <a:p>
            <a:pPr>
              <a:spcAft>
                <a:spcPts val="600"/>
              </a:spcAft>
              <a:defRPr sz="1300">
                <a:solidFill>
                  <a:srgbClr val="AAAAAA"/>
                </a:solidFill>
                <a:latin typeface="Segoe UI"/>
              </a:defRPr>
            </a:pPr>
            <a:r>
              <a:t>•  Inventors often discover crippling prior art only months after expensive official filings.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554480"/>
            <a:ext cx="3383280" cy="4846320"/>
          </a:xfrm>
          <a:prstGeom prst="roundRect">
            <a:avLst/>
          </a:prstGeom>
          <a:solidFill>
            <a:srgbClr val="141414"/>
          </a:solidFill>
          <a:ln w="12700">
            <a:solidFill>
              <a:srgbClr val="3737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17720" y="1737360"/>
            <a:ext cx="29260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FFFFFF"/>
                </a:solidFill>
                <a:latin typeface="Segoe UI"/>
              </a:defRPr>
            </a:pPr>
            <a:r>
              <a:t>Limitations of Existing Tools</a:t>
            </a:r>
          </a:p>
          <a:p>
            <a:pPr>
              <a:spcAft>
                <a:spcPts val="600"/>
              </a:spcAft>
              <a:defRPr sz="1300">
                <a:solidFill>
                  <a:srgbClr val="AAAAAA"/>
                </a:solidFill>
                <a:latin typeface="Segoe UI"/>
              </a:defRPr>
            </a:pPr>
            <a:r>
              <a:t>•  Pure keyword search (Google Patents) misses semantic paraphrasing and conceptual equivalents.</a:t>
            </a:r>
          </a:p>
          <a:p>
            <a:pPr>
              <a:spcAft>
                <a:spcPts val="600"/>
              </a:spcAft>
              <a:defRPr sz="1300">
                <a:solidFill>
                  <a:srgbClr val="AAAAAA"/>
                </a:solidFill>
                <a:latin typeface="Segoe UI"/>
              </a:defRPr>
            </a:pPr>
            <a:r>
              <a:t>•  Generic LLMs (ChatGPT) suffer catastrophic legal hallucinations and cannot cite verified paragraph evidence.</a:t>
            </a:r>
          </a:p>
          <a:p>
            <a:pPr>
              <a:spcAft>
                <a:spcPts val="600"/>
              </a:spcAft>
              <a:defRPr sz="1300">
                <a:solidFill>
                  <a:srgbClr val="AAAAAA"/>
                </a:solidFill>
                <a:latin typeface="Segoe UI"/>
              </a:defRPr>
            </a:pPr>
            <a:r>
              <a:t>•  Non-deterministic scores: LLM rating prompts produce fluctuating readiness grades on repeated runs.</a:t>
            </a:r>
          </a:p>
          <a:p>
            <a:pPr>
              <a:spcAft>
                <a:spcPts val="600"/>
              </a:spcAft>
              <a:defRPr sz="1300">
                <a:solidFill>
                  <a:srgbClr val="AAAAAA"/>
                </a:solidFill>
                <a:latin typeface="Segoe UI"/>
              </a:defRPr>
            </a:pPr>
            <a:r>
              <a:t>•  Zero traceability between technical feature clauses and retrieved patent claim boundaries.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554480"/>
            <a:ext cx="3383280" cy="4846320"/>
          </a:xfrm>
          <a:prstGeom prst="roundRect">
            <a:avLst/>
          </a:prstGeom>
          <a:solidFill>
            <a:srgbClr val="141414"/>
          </a:solidFill>
          <a:ln w="12700">
            <a:solidFill>
              <a:srgbClr val="3737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75320" y="1737360"/>
            <a:ext cx="29260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FFFFFF"/>
                </a:solidFill>
                <a:latin typeface="Segoe UI"/>
              </a:defRPr>
            </a:pPr>
            <a:r>
              <a:t>The Core Research Challenge</a:t>
            </a:r>
          </a:p>
          <a:p>
            <a:pPr>
              <a:spcAft>
                <a:spcPts val="600"/>
              </a:spcAft>
              <a:defRPr sz="1300">
                <a:solidFill>
                  <a:srgbClr val="AAAAAA"/>
                </a:solidFill>
                <a:latin typeface="Segoe UI"/>
              </a:defRPr>
            </a:pPr>
            <a:r>
              <a:t>•  Can we build an automated system that extracts granular technical claims from an informal disclosure?</a:t>
            </a:r>
          </a:p>
          <a:p>
            <a:pPr>
              <a:spcAft>
                <a:spcPts val="600"/>
              </a:spcAft>
              <a:defRPr sz="1300">
                <a:solidFill>
                  <a:srgbClr val="AAAAAA"/>
                </a:solidFill>
                <a:latin typeface="Segoe UI"/>
              </a:defRPr>
            </a:pPr>
            <a:r>
              <a:t>•  Can we achieve sub-second hybrid retrieval fusing lexical BM25 and dense neural vector representations?</a:t>
            </a:r>
          </a:p>
          <a:p>
            <a:pPr>
              <a:spcAft>
                <a:spcPts val="600"/>
              </a:spcAft>
              <a:defRPr sz="1300">
                <a:solidFill>
                  <a:srgbClr val="AAAAAA"/>
                </a:solidFill>
                <a:latin typeface="Segoe UI"/>
              </a:defRPr>
            </a:pPr>
            <a:r>
              <a:t>•  Can readiness assessment be made 100% deterministic, auditable, and grounded in concrete citations?</a:t>
            </a:r>
          </a:p>
          <a:p>
            <a:pPr>
              <a:spcAft>
                <a:spcPts val="600"/>
              </a:spcAft>
              <a:defRPr sz="1300">
                <a:solidFill>
                  <a:srgbClr val="AAAAAA"/>
                </a:solidFill>
                <a:latin typeface="Segoe UI"/>
              </a:defRPr>
            </a:pPr>
            <a:r>
              <a:t>•  Provide actionable pre-filing intelligence before spending thousands on legal fees.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787878"/>
                </a:solidFill>
                <a:latin typeface="Segoe UI"/>
              </a:defRPr>
            </a:pPr>
            <a:r>
              <a:t>PATENTIQ — ACADEMIC FINAL REVIEW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Segoe UI"/>
              </a:defRPr>
            </a:pPr>
            <a:r>
              <a:t>Proposed Solution: PatentIQ Architecture Overview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25880"/>
            <a:ext cx="10698480" cy="18288"/>
          </a:xfrm>
          <a:prstGeom prst="rect">
            <a:avLst/>
          </a:prstGeom>
          <a:solidFill>
            <a:srgbClr val="373737"/>
          </a:solidFill>
          <a:ln>
            <a:solidFill>
              <a:srgbClr val="3737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5212080" cy="2331720"/>
          </a:xfrm>
          <a:prstGeom prst="roundRect">
            <a:avLst/>
          </a:prstGeom>
          <a:solidFill>
            <a:srgbClr val="141414"/>
          </a:solidFill>
          <a:ln w="12700">
            <a:solidFill>
              <a:srgbClr val="3737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737360"/>
            <a:ext cx="475488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FFFFFF"/>
                </a:solidFill>
                <a:latin typeface="Segoe UI"/>
              </a:defRPr>
            </a:pPr>
            <a:r>
              <a:t>1. Multi-Stage Hybrid Neural Retrieval</a:t>
            </a:r>
          </a:p>
          <a:p>
            <a:pPr>
              <a:spcAft>
                <a:spcPts val="600"/>
              </a:spcAft>
              <a:defRPr sz="1300">
                <a:solidFill>
                  <a:srgbClr val="AAAAAA"/>
                </a:solidFill>
                <a:latin typeface="Segoe UI"/>
              </a:defRPr>
            </a:pPr>
            <a:r>
              <a:t>•  Combines BM25 lexical token matching with BGE-small dense embeddings.</a:t>
            </a:r>
          </a:p>
          <a:p>
            <a:pPr>
              <a:spcAft>
                <a:spcPts val="600"/>
              </a:spcAft>
              <a:defRPr sz="1300">
                <a:solidFill>
                  <a:srgbClr val="AAAAAA"/>
                </a:solidFill>
                <a:latin typeface="Segoe UI"/>
              </a:defRPr>
            </a:pPr>
            <a:r>
              <a:t>•  Reciprocal Rank Fusion (RRF, k=60) fuses lexical precision with semantic recall.</a:t>
            </a:r>
          </a:p>
          <a:p>
            <a:pPr>
              <a:spcAft>
                <a:spcPts val="600"/>
              </a:spcAft>
              <a:defRPr sz="1300">
                <a:solidFill>
                  <a:srgbClr val="AAAAAA"/>
                </a:solidFill>
                <a:latin typeface="Segoe UI"/>
              </a:defRPr>
            </a:pPr>
            <a:r>
              <a:t>•  Pairwise Transformer Cross-Encoder (BAAI/bge-reranker-base) eliminates false matches.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554480"/>
            <a:ext cx="5212080" cy="2331720"/>
          </a:xfrm>
          <a:prstGeom prst="roundRect">
            <a:avLst/>
          </a:prstGeom>
          <a:solidFill>
            <a:srgbClr val="141414"/>
          </a:solidFill>
          <a:ln w="12700">
            <a:solidFill>
              <a:srgbClr val="3737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520" y="1737360"/>
            <a:ext cx="475488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FFFFFF"/>
                </a:solidFill>
                <a:latin typeface="Segoe UI"/>
              </a:defRPr>
            </a:pPr>
            <a:r>
              <a:t>2. Automated Technical Feature Extraction</a:t>
            </a:r>
          </a:p>
          <a:p>
            <a:pPr>
              <a:spcAft>
                <a:spcPts val="600"/>
              </a:spcAft>
              <a:defRPr sz="1300">
                <a:solidFill>
                  <a:srgbClr val="AAAAAA"/>
                </a:solidFill>
                <a:latin typeface="Segoe UI"/>
              </a:defRPr>
            </a:pPr>
            <a:r>
              <a:t>•  Parses unstructured PDF, DOCX, and TXT disclosure documents.</a:t>
            </a:r>
          </a:p>
          <a:p>
            <a:pPr>
              <a:spcAft>
                <a:spcPts val="600"/>
              </a:spcAft>
              <a:defRPr sz="1300">
                <a:solidFill>
                  <a:srgbClr val="AAAAAA"/>
                </a:solidFill>
                <a:latin typeface="Segoe UI"/>
              </a:defRPr>
            </a:pPr>
            <a:r>
              <a:t>•  Extracts independent system components, methods, and algorithmic steps.</a:t>
            </a:r>
          </a:p>
          <a:p>
            <a:pPr>
              <a:spcAft>
                <a:spcPts val="600"/>
              </a:spcAft>
              <a:defRPr sz="1300">
                <a:solidFill>
                  <a:srgbClr val="AAAAAA"/>
                </a:solidFill>
                <a:latin typeface="Segoe UI"/>
              </a:defRPr>
            </a:pPr>
            <a:r>
              <a:t>•  Normalizes technical predicates and assigns deterministic UUIDs.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069080"/>
            <a:ext cx="5212080" cy="2331720"/>
          </a:xfrm>
          <a:prstGeom prst="roundRect">
            <a:avLst/>
          </a:prstGeom>
          <a:solidFill>
            <a:srgbClr val="141414"/>
          </a:solidFill>
          <a:ln w="12700">
            <a:solidFill>
              <a:srgbClr val="3737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4251960"/>
            <a:ext cx="475488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FFFFFF"/>
                </a:solidFill>
                <a:latin typeface="Segoe UI"/>
              </a:defRPr>
            </a:pPr>
            <a:r>
              <a:t>3. Deterministic EB-PRE Scoring Engine</a:t>
            </a:r>
          </a:p>
          <a:p>
            <a:pPr>
              <a:spcAft>
                <a:spcPts val="600"/>
              </a:spcAft>
              <a:defRPr sz="1300">
                <a:solidFill>
                  <a:srgbClr val="AAAAAA"/>
                </a:solidFill>
                <a:latin typeface="Segoe UI"/>
              </a:defRPr>
            </a:pPr>
            <a:r>
              <a:t>•  Evidence-Based Patent Readiness Evaluation across 6 legal-technical dimensions.</a:t>
            </a:r>
          </a:p>
          <a:p>
            <a:pPr>
              <a:spcAft>
                <a:spcPts val="600"/>
              </a:spcAft>
              <a:defRPr sz="1300">
                <a:solidFill>
                  <a:srgbClr val="AAAAAA"/>
                </a:solidFill>
                <a:latin typeface="Segoe UI"/>
              </a:defRPr>
            </a:pPr>
            <a:r>
              <a:t>•  Mathematical formulation guaranteeing 100% reproducibility across restarts.</a:t>
            </a:r>
          </a:p>
          <a:p>
            <a:pPr>
              <a:spcAft>
                <a:spcPts val="600"/>
              </a:spcAft>
              <a:defRPr sz="1300">
                <a:solidFill>
                  <a:srgbClr val="AAAAAA"/>
                </a:solidFill>
                <a:latin typeface="Segoe UI"/>
              </a:defRPr>
            </a:pPr>
            <a:r>
              <a:t>•  Categorizes readiness into 4 distinct panel-certified bands (0 to 100).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4069080"/>
            <a:ext cx="5212080" cy="2331720"/>
          </a:xfrm>
          <a:prstGeom prst="roundRect">
            <a:avLst/>
          </a:prstGeom>
          <a:solidFill>
            <a:srgbClr val="141414"/>
          </a:solidFill>
          <a:ln w="12700">
            <a:solidFill>
              <a:srgbClr val="3737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4251960"/>
            <a:ext cx="475488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FFFFFF"/>
                </a:solidFill>
                <a:latin typeface="Segoe UI"/>
              </a:defRPr>
            </a:pPr>
            <a:r>
              <a:t>4. Grounded Auditable Reporting &amp; Safety</a:t>
            </a:r>
          </a:p>
          <a:p>
            <a:pPr>
              <a:spcAft>
                <a:spcPts val="600"/>
              </a:spcAft>
              <a:defRPr sz="1300">
                <a:solidFill>
                  <a:srgbClr val="AAAAAA"/>
                </a:solidFill>
                <a:latin typeface="Segoe UI"/>
              </a:defRPr>
            </a:pPr>
            <a:r>
              <a:t>•  10-section comprehensive patent readiness audit report.</a:t>
            </a:r>
          </a:p>
          <a:p>
            <a:pPr>
              <a:spcAft>
                <a:spcPts val="600"/>
              </a:spcAft>
              <a:defRPr sz="1300">
                <a:solidFill>
                  <a:srgbClr val="AAAAAA"/>
                </a:solidFill>
                <a:latin typeface="Segoe UI"/>
              </a:defRPr>
            </a:pPr>
            <a:r>
              <a:t>•  Direct citation links to retrieved USPTO prior-art claims and paragraphs.</a:t>
            </a:r>
          </a:p>
          <a:p>
            <a:pPr>
              <a:spcAft>
                <a:spcPts val="600"/>
              </a:spcAft>
              <a:defRPr sz="1300">
                <a:solidFill>
                  <a:srgbClr val="AAAAAA"/>
                </a:solidFill>
                <a:latin typeface="Segoe UI"/>
              </a:defRPr>
            </a:pPr>
            <a:r>
              <a:t>•  Deterministic zero-hallucination fallback engine guaranteeing 100% panel uptime.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787878"/>
                </a:solidFill>
                <a:latin typeface="Segoe UI"/>
              </a:defRPr>
            </a:pPr>
            <a:r>
              <a:t>PATENTIQ — ACADEMIC FINAL REVIEW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Segoe UI"/>
              </a:defRPr>
            </a:pPr>
            <a:r>
              <a:t>Key Research Objectives &amp; Novel Contributions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25880"/>
            <a:ext cx="10698480" cy="18288"/>
          </a:xfrm>
          <a:prstGeom prst="rect">
            <a:avLst/>
          </a:prstGeom>
          <a:solidFill>
            <a:srgbClr val="373737"/>
          </a:solidFill>
          <a:ln>
            <a:solidFill>
              <a:srgbClr val="3737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3383280" cy="4846320"/>
          </a:xfrm>
          <a:prstGeom prst="roundRect">
            <a:avLst/>
          </a:prstGeom>
          <a:solidFill>
            <a:srgbClr val="141414"/>
          </a:solidFill>
          <a:ln w="12700">
            <a:solidFill>
              <a:srgbClr val="3737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737360"/>
            <a:ext cx="29260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FFFFFF"/>
                </a:solidFill>
                <a:latin typeface="Segoe UI"/>
              </a:defRPr>
            </a:pPr>
            <a:r>
              <a:t>Objective 1: Multi-Modal Ingestion &amp; AST Parsing</a:t>
            </a:r>
          </a:p>
          <a:p>
            <a:pPr>
              <a:spcAft>
                <a:spcPts val="600"/>
              </a:spcAft>
              <a:defRPr sz="1300">
                <a:solidFill>
                  <a:srgbClr val="AAAAAA"/>
                </a:solidFill>
                <a:latin typeface="Segoe UI"/>
              </a:defRPr>
            </a:pPr>
            <a:r>
              <a:t>•  Implement robust text extraction supporting Word (.docx), PDF (.pdf), and Plaintext (.txt).</a:t>
            </a:r>
          </a:p>
          <a:p>
            <a:pPr>
              <a:spcAft>
                <a:spcPts val="600"/>
              </a:spcAft>
              <a:defRPr sz="1300">
                <a:solidFill>
                  <a:srgbClr val="AAAAAA"/>
                </a:solidFill>
                <a:latin typeface="Segoe UI"/>
              </a:defRPr>
            </a:pPr>
            <a:r>
              <a:t>•  Deterministic AST-based semantic chunking preserving legal context boundaries.</a:t>
            </a:r>
          </a:p>
          <a:p>
            <a:pPr>
              <a:spcAft>
                <a:spcPts val="600"/>
              </a:spcAft>
              <a:defRPr sz="1300">
                <a:solidFill>
                  <a:srgbClr val="AAAAAA"/>
                </a:solidFill>
                <a:latin typeface="Segoe UI"/>
              </a:defRPr>
            </a:pPr>
            <a:r>
              <a:t>•  Detection of formal patent sections: Abstract, Claims, Detailed Description, and Embodiments.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554480"/>
            <a:ext cx="3383280" cy="4846320"/>
          </a:xfrm>
          <a:prstGeom prst="roundRect">
            <a:avLst/>
          </a:prstGeom>
          <a:solidFill>
            <a:srgbClr val="141414"/>
          </a:solidFill>
          <a:ln w="12700">
            <a:solidFill>
              <a:srgbClr val="3737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17720" y="1737360"/>
            <a:ext cx="29260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FFFFFF"/>
                </a:solidFill>
                <a:latin typeface="Segoe UI"/>
              </a:defRPr>
            </a:pPr>
            <a:r>
              <a:t>Objective 2: Hybrid Retrieval &amp; Fusion</a:t>
            </a:r>
          </a:p>
          <a:p>
            <a:pPr>
              <a:spcAft>
                <a:spcPts val="600"/>
              </a:spcAft>
              <a:defRPr sz="1300">
                <a:solidFill>
                  <a:srgbClr val="AAAAAA"/>
                </a:solidFill>
                <a:latin typeface="Segoe UI"/>
              </a:defRPr>
            </a:pPr>
            <a:r>
              <a:t>•  Overcome keyword vocabulary mismatch using dense BGE neural vectors.</a:t>
            </a:r>
          </a:p>
          <a:p>
            <a:pPr>
              <a:spcAft>
                <a:spcPts val="600"/>
              </a:spcAft>
              <a:defRPr sz="1300">
                <a:solidFill>
                  <a:srgbClr val="AAAAAA"/>
                </a:solidFill>
                <a:latin typeface="Segoe UI"/>
              </a:defRPr>
            </a:pPr>
            <a:r>
              <a:t>•  Overcome vector loss-of-precision for technical acronyms using BM25 lexical indexing.</a:t>
            </a:r>
          </a:p>
          <a:p>
            <a:pPr>
              <a:spcAft>
                <a:spcPts val="600"/>
              </a:spcAft>
              <a:defRPr sz="1300">
                <a:solidFill>
                  <a:srgbClr val="AAAAAA"/>
                </a:solidFill>
                <a:latin typeface="Segoe UI"/>
              </a:defRPr>
            </a:pPr>
            <a:r>
              <a:t>•  RRF rank fusion eliminating arbitrary score normalization factors.</a:t>
            </a:r>
          </a:p>
          <a:p>
            <a:pPr>
              <a:spcAft>
                <a:spcPts val="600"/>
              </a:spcAft>
              <a:defRPr sz="1300">
                <a:solidFill>
                  <a:srgbClr val="AAAAAA"/>
                </a:solidFill>
                <a:latin typeface="Segoe UI"/>
              </a:defRPr>
            </a:pPr>
            <a:r>
              <a:t>•  Cross-Encoder reranking achieving superior precision over bi-encoder baselines.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554480"/>
            <a:ext cx="3383280" cy="4846320"/>
          </a:xfrm>
          <a:prstGeom prst="roundRect">
            <a:avLst/>
          </a:prstGeom>
          <a:solidFill>
            <a:srgbClr val="141414"/>
          </a:solidFill>
          <a:ln w="12700">
            <a:solidFill>
              <a:srgbClr val="3737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75320" y="1737360"/>
            <a:ext cx="29260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FFFFFF"/>
                </a:solidFill>
                <a:latin typeface="Segoe UI"/>
              </a:defRPr>
            </a:pPr>
            <a:r>
              <a:t>Objective 3: Deterministic Readiness Metric</a:t>
            </a:r>
          </a:p>
          <a:p>
            <a:pPr>
              <a:spcAft>
                <a:spcPts val="600"/>
              </a:spcAft>
              <a:defRPr sz="1300">
                <a:solidFill>
                  <a:srgbClr val="AAAAAA"/>
                </a:solidFill>
                <a:latin typeface="Segoe UI"/>
              </a:defRPr>
            </a:pPr>
            <a:r>
              <a:t>•  Design the EB-PRE (Evidence-Based Patent Readiness Evaluation) metric.</a:t>
            </a:r>
          </a:p>
          <a:p>
            <a:pPr>
              <a:spcAft>
                <a:spcPts val="600"/>
              </a:spcAft>
              <a:defRPr sz="1300">
                <a:solidFill>
                  <a:srgbClr val="AAAAAA"/>
                </a:solidFill>
                <a:latin typeface="Segoe UI"/>
              </a:defRPr>
            </a:pPr>
            <a:r>
              <a:t>•  Calculate quantitative scores across Novelty, Obviousness, Specificity, and Breadth.</a:t>
            </a:r>
          </a:p>
          <a:p>
            <a:pPr>
              <a:spcAft>
                <a:spcPts val="600"/>
              </a:spcAft>
              <a:defRPr sz="1300">
                <a:solidFill>
                  <a:srgbClr val="AAAAAA"/>
                </a:solidFill>
                <a:latin typeface="Segoe UI"/>
              </a:defRPr>
            </a:pPr>
            <a:r>
              <a:t>•  Deliver auditable Evidence Matrix mapping technical features to prior-art citations.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787878"/>
                </a:solidFill>
                <a:latin typeface="Segoe UI"/>
              </a:defRPr>
            </a:pPr>
            <a:r>
              <a:t>PATENTIQ — ACADEMIC FINAL REVIEW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Segoe UI"/>
              </a:defRPr>
            </a:pPr>
            <a:r>
              <a:t>Document Ingestion Pipeline &amp; Section Parsing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25880"/>
            <a:ext cx="10698480" cy="18288"/>
          </a:xfrm>
          <a:prstGeom prst="rect">
            <a:avLst/>
          </a:prstGeom>
          <a:solidFill>
            <a:srgbClr val="373737"/>
          </a:solidFill>
          <a:ln>
            <a:solidFill>
              <a:srgbClr val="3737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5212080" cy="4846320"/>
          </a:xfrm>
          <a:prstGeom prst="roundRect">
            <a:avLst/>
          </a:prstGeom>
          <a:solidFill>
            <a:srgbClr val="141414"/>
          </a:solidFill>
          <a:ln w="12700">
            <a:solidFill>
              <a:srgbClr val="3737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737360"/>
            <a:ext cx="47548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FFFFFF"/>
                </a:solidFill>
                <a:latin typeface="Segoe UI"/>
              </a:defRPr>
            </a:pPr>
            <a:r>
              <a:t>Document Normalization Architecture</a:t>
            </a:r>
          </a:p>
          <a:p>
            <a:pPr>
              <a:spcAft>
                <a:spcPts val="600"/>
              </a:spcAft>
              <a:defRPr sz="1300">
                <a:solidFill>
                  <a:srgbClr val="AAAAAA"/>
                </a:solidFill>
                <a:latin typeface="Segoe UI"/>
              </a:defRPr>
            </a:pPr>
            <a:r>
              <a:t>•  Multi-Format Extractors: python-docx for Word, pypdf/pdfplumber for PDF, native UTF-8 for TXT.</a:t>
            </a:r>
          </a:p>
          <a:p>
            <a:pPr>
              <a:spcAft>
                <a:spcPts val="600"/>
              </a:spcAft>
              <a:defRPr sz="1300">
                <a:solidFill>
                  <a:srgbClr val="AAAAAA"/>
                </a:solidFill>
                <a:latin typeface="Segoe UI"/>
              </a:defRPr>
            </a:pPr>
            <a:r>
              <a:t>•  Security &amp; Sanitization: MIME-type sniffing, path traversal defense, file size quotas (10MB limit).</a:t>
            </a:r>
          </a:p>
          <a:p>
            <a:pPr>
              <a:spcAft>
                <a:spcPts val="600"/>
              </a:spcAft>
              <a:defRPr sz="1300">
                <a:solidFill>
                  <a:srgbClr val="AAAAAA"/>
                </a:solidFill>
                <a:latin typeface="Segoe UI"/>
              </a:defRPr>
            </a:pPr>
            <a:r>
              <a:t>•  Section Header Heuristics: Regex pattern matching detects legal patent boundaries ('Claims', 'Technical Field', 'Background', 'Summary').</a:t>
            </a:r>
          </a:p>
          <a:p>
            <a:pPr>
              <a:spcAft>
                <a:spcPts val="600"/>
              </a:spcAft>
              <a:defRPr sz="1300">
                <a:solidFill>
                  <a:srgbClr val="AAAAAA"/>
                </a:solidFill>
                <a:latin typeface="Segoe UI"/>
              </a:defRPr>
            </a:pPr>
            <a:r>
              <a:t>•  Sliding-Window Chunking: Target chunk size = 500 characters, overlap = 100 characters to prevent splitting technical predicates.</a:t>
            </a:r>
          </a:p>
          <a:p>
            <a:pPr>
              <a:spcAft>
                <a:spcPts val="600"/>
              </a:spcAft>
              <a:defRPr sz="1300">
                <a:solidFill>
                  <a:srgbClr val="AAAAAA"/>
                </a:solidFill>
                <a:latin typeface="Segoe UI"/>
              </a:defRPr>
            </a:pPr>
            <a:r>
              <a:t>•  Deduplication &amp; Hashing: Deterministic SHA-256 chunk hashing eliminates identical disclosures.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554480"/>
            <a:ext cx="5212080" cy="4846320"/>
          </a:xfrm>
          <a:prstGeom prst="roundRect">
            <a:avLst/>
          </a:prstGeom>
          <a:solidFill>
            <a:srgbClr val="141414"/>
          </a:solidFill>
          <a:ln w="12700">
            <a:solidFill>
              <a:srgbClr val="3737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520" y="1737360"/>
            <a:ext cx="47548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FFFFFF"/>
                </a:solidFill>
                <a:latin typeface="Segoe UI"/>
              </a:defRPr>
            </a:pPr>
            <a:r>
              <a:t>Processed Document Representation</a:t>
            </a:r>
          </a:p>
          <a:p>
            <a:pPr>
              <a:spcAft>
                <a:spcPts val="600"/>
              </a:spcAft>
              <a:defRPr sz="1300">
                <a:solidFill>
                  <a:srgbClr val="AAAAAA"/>
                </a:solidFill>
                <a:latin typeface="Segoe UI"/>
              </a:defRPr>
            </a:pPr>
            <a:r>
              <a:t>•  Every chunk is enriched with metadata: {chunk_index, section, page_number, word_count}.</a:t>
            </a:r>
          </a:p>
          <a:p>
            <a:pPr>
              <a:spcAft>
                <a:spcPts val="600"/>
              </a:spcAft>
              <a:defRPr sz="1300">
                <a:solidFill>
                  <a:srgbClr val="AAAAAA"/>
                </a:solidFill>
                <a:latin typeface="Segoe UI"/>
              </a:defRPr>
            </a:pPr>
            <a:r>
              <a:t>•  Specialized handling for Scanned PDFs: Auto-detects image-only files and warns the user without pipeline failure.</a:t>
            </a:r>
          </a:p>
          <a:p>
            <a:pPr>
              <a:spcAft>
                <a:spcPts val="600"/>
              </a:spcAft>
              <a:defRPr sz="1300">
                <a:solidFill>
                  <a:srgbClr val="AAAAAA"/>
                </a:solidFill>
                <a:latin typeface="Segoe UI"/>
              </a:defRPr>
            </a:pPr>
            <a:r>
              <a:t>•  Preserves hierarchy: Distinguishes independent claims from dependent claims and body descriptions.</a:t>
            </a:r>
          </a:p>
          <a:p>
            <a:pPr>
              <a:spcAft>
                <a:spcPts val="600"/>
              </a:spcAft>
              <a:defRPr sz="1300">
                <a:solidFill>
                  <a:srgbClr val="AAAAAA"/>
                </a:solidFill>
                <a:latin typeface="Segoe UI"/>
              </a:defRPr>
            </a:pPr>
            <a:r>
              <a:t>•  Durable Storage: Chunks are stored in local ACID SQLite store (surviving server restarts).</a:t>
            </a:r>
          </a:p>
          <a:p>
            <a:pPr>
              <a:spcAft>
                <a:spcPts val="600"/>
              </a:spcAft>
              <a:defRPr sz="1300">
                <a:solidFill>
                  <a:srgbClr val="AAAAAA"/>
                </a:solidFill>
                <a:latin typeface="Segoe UI"/>
              </a:defRPr>
            </a:pPr>
            <a:r>
              <a:t>•  Processed in &lt; 350ms for typical 15-page invention disclosures.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787878"/>
                </a:solidFill>
                <a:latin typeface="Segoe UI"/>
              </a:defRPr>
            </a:pPr>
            <a:r>
              <a:t>PATENTIQ — ACADEMIC FINAL REVIEW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Segoe UI"/>
              </a:defRPr>
            </a:pPr>
            <a:r>
              <a:t>Technical Feature Extraction &amp; NLP Normalization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25880"/>
            <a:ext cx="10698480" cy="18288"/>
          </a:xfrm>
          <a:prstGeom prst="rect">
            <a:avLst/>
          </a:prstGeom>
          <a:solidFill>
            <a:srgbClr val="373737"/>
          </a:solidFill>
          <a:ln>
            <a:solidFill>
              <a:srgbClr val="3737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3383280" cy="4846320"/>
          </a:xfrm>
          <a:prstGeom prst="roundRect">
            <a:avLst/>
          </a:prstGeom>
          <a:solidFill>
            <a:srgbClr val="141414"/>
          </a:solidFill>
          <a:ln w="12700">
            <a:solidFill>
              <a:srgbClr val="3737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737360"/>
            <a:ext cx="29260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FFFFFF"/>
                </a:solidFill>
                <a:latin typeface="Segoe UI"/>
              </a:defRPr>
            </a:pPr>
            <a:r>
              <a:t>Heuristic Feature Extractor</a:t>
            </a:r>
          </a:p>
          <a:p>
            <a:pPr>
              <a:spcAft>
                <a:spcPts val="600"/>
              </a:spcAft>
              <a:defRPr sz="1300">
                <a:solidFill>
                  <a:srgbClr val="AAAAAA"/>
                </a:solidFill>
                <a:latin typeface="Segoe UI"/>
              </a:defRPr>
            </a:pPr>
            <a:r>
              <a:t>•  Scans chunk tokens for patent assertion triggers: 'configured to', 'comprising', 'wherein', 'adapted for'.</a:t>
            </a:r>
          </a:p>
          <a:p>
            <a:pPr>
              <a:spcAft>
                <a:spcPts val="600"/>
              </a:spcAft>
              <a:defRPr sz="1300">
                <a:solidFill>
                  <a:srgbClr val="AAAAAA"/>
                </a:solidFill>
                <a:latin typeface="Segoe UI"/>
              </a:defRPr>
            </a:pPr>
            <a:r>
              <a:t>•  Splits composite sentences into distinct technical sub-clauses.</a:t>
            </a:r>
          </a:p>
          <a:p>
            <a:pPr>
              <a:spcAft>
                <a:spcPts val="600"/>
              </a:spcAft>
              <a:defRPr sz="1300">
                <a:solidFill>
                  <a:srgbClr val="AAAAAA"/>
                </a:solidFill>
                <a:latin typeface="Segoe UI"/>
              </a:defRPr>
            </a:pPr>
            <a:r>
              <a:t>•  Filters out boilerplate legalese ('in accordance with an embodiment of the present invention').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554480"/>
            <a:ext cx="3383280" cy="4846320"/>
          </a:xfrm>
          <a:prstGeom prst="roundRect">
            <a:avLst/>
          </a:prstGeom>
          <a:solidFill>
            <a:srgbClr val="141414"/>
          </a:solidFill>
          <a:ln w="12700">
            <a:solidFill>
              <a:srgbClr val="3737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17720" y="1737360"/>
            <a:ext cx="29260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FFFFFF"/>
                </a:solidFill>
                <a:latin typeface="Segoe UI"/>
              </a:defRPr>
            </a:pPr>
            <a:r>
              <a:t>Deterministic Normalization</a:t>
            </a:r>
          </a:p>
          <a:p>
            <a:pPr>
              <a:spcAft>
                <a:spcPts val="600"/>
              </a:spcAft>
              <a:defRPr sz="1300">
                <a:solidFill>
                  <a:srgbClr val="AAAAAA"/>
                </a:solidFill>
                <a:latin typeface="Segoe UI"/>
              </a:defRPr>
            </a:pPr>
            <a:r>
              <a:t>•  Dangling Fragment Detector: Eliminates phrases ending in prepositions ('to', 'for', 'with', 'wherein').</a:t>
            </a:r>
          </a:p>
          <a:p>
            <a:pPr>
              <a:spcAft>
                <a:spcPts val="600"/>
              </a:spcAft>
              <a:defRPr sz="1300">
                <a:solidFill>
                  <a:srgbClr val="AAAAAA"/>
                </a:solidFill>
                <a:latin typeface="Segoe UI"/>
              </a:defRPr>
            </a:pPr>
            <a:r>
              <a:t>•  Vocabulary Controlled Lemmatization: Standardizes verb tenses and hardware/software terms.</a:t>
            </a:r>
          </a:p>
          <a:p>
            <a:pPr>
              <a:spcAft>
                <a:spcPts val="600"/>
              </a:spcAft>
              <a:defRPr sz="1300">
                <a:solidFill>
                  <a:srgbClr val="AAAAAA"/>
                </a:solidFill>
                <a:latin typeface="Segoe UI"/>
              </a:defRPr>
            </a:pPr>
            <a:r>
              <a:t>•  Multi-Source Provenance Merging: Aggregates features mentioned across multiple document sections.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554480"/>
            <a:ext cx="3383280" cy="4846320"/>
          </a:xfrm>
          <a:prstGeom prst="roundRect">
            <a:avLst/>
          </a:prstGeom>
          <a:solidFill>
            <a:srgbClr val="141414"/>
          </a:solidFill>
          <a:ln w="12700">
            <a:solidFill>
              <a:srgbClr val="3737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75320" y="1737360"/>
            <a:ext cx="29260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FFFFFF"/>
                </a:solidFill>
                <a:latin typeface="Segoe UI"/>
              </a:defRPr>
            </a:pPr>
            <a:r>
              <a:t>Structured Feature Schema</a:t>
            </a:r>
          </a:p>
          <a:p>
            <a:pPr>
              <a:spcAft>
                <a:spcPts val="600"/>
              </a:spcAft>
              <a:defRPr sz="1300">
                <a:solidFill>
                  <a:srgbClr val="AAAAAA"/>
                </a:solidFill>
                <a:latin typeface="Segoe UI"/>
              </a:defRPr>
            </a:pPr>
            <a:r>
              <a:t>•  feature_id: Deterministic UUIDv5 key (e.g., 'f-0', 'f-1').</a:t>
            </a:r>
          </a:p>
          <a:p>
            <a:pPr>
              <a:spcAft>
                <a:spcPts val="600"/>
              </a:spcAft>
              <a:defRPr sz="1300">
                <a:solidFill>
                  <a:srgbClr val="AAAAAA"/>
                </a:solidFill>
                <a:latin typeface="Segoe UI"/>
              </a:defRPr>
            </a:pPr>
            <a:r>
              <a:t>•  feature_type: System Architecture, Algorithmic Step, Hardware Component, or Data Structure.</a:t>
            </a:r>
          </a:p>
          <a:p>
            <a:pPr>
              <a:spcAft>
                <a:spcPts val="600"/>
              </a:spcAft>
              <a:defRPr sz="1300">
                <a:solidFill>
                  <a:srgbClr val="AAAAAA"/>
                </a:solidFill>
                <a:latin typeface="Segoe UI"/>
              </a:defRPr>
            </a:pPr>
            <a:r>
              <a:t>•  distinctiveness_score: Information-theoretic novelty estimate.</a:t>
            </a:r>
          </a:p>
          <a:p>
            <a:pPr>
              <a:spcAft>
                <a:spcPts val="600"/>
              </a:spcAft>
              <a:defRPr sz="1300">
                <a:solidFill>
                  <a:srgbClr val="AAAAAA"/>
                </a:solidFill>
                <a:latin typeface="Segoe UI"/>
              </a:defRPr>
            </a:pPr>
            <a:r>
              <a:t>•  Ready for targeted prior-art retrieval.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787878"/>
                </a:solidFill>
                <a:latin typeface="Segoe UI"/>
              </a:defRPr>
            </a:pPr>
            <a:r>
              <a:t>PATENTIQ — ACADEMIC FINAL REVIEW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Segoe UI"/>
              </a:defRPr>
            </a:pPr>
            <a:r>
              <a:t>System Architecture &amp; End-to-End Pipeline Dataflow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25880"/>
            <a:ext cx="10698480" cy="18288"/>
          </a:xfrm>
          <a:prstGeom prst="rect">
            <a:avLst/>
          </a:prstGeom>
          <a:solidFill>
            <a:srgbClr val="373737"/>
          </a:solidFill>
          <a:ln>
            <a:solidFill>
              <a:srgbClr val="3737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417320"/>
            <a:ext cx="10728655" cy="5074920"/>
          </a:xfrm>
          <a:prstGeom prst="roundRect">
            <a:avLst/>
          </a:prstGeom>
          <a:solidFill>
            <a:srgbClr val="141414"/>
          </a:solidFill>
          <a:ln w="15240">
            <a:solidFill>
              <a:srgbClr val="3737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_full_architecture_git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43887" y="1490472"/>
            <a:ext cx="8503920" cy="491947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787878"/>
                </a:solidFill>
                <a:latin typeface="Segoe UI"/>
              </a:defRPr>
            </a:pPr>
            <a:r>
              <a:t>PATENTIQ — ACADEMIC FINAL REVIEW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Segoe UI"/>
              </a:defRPr>
            </a:pPr>
            <a:r>
              <a:t>Multi-Stage Hybrid Retrieval &amp; Reciprocal Rank Fusion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25880"/>
            <a:ext cx="10698480" cy="18288"/>
          </a:xfrm>
          <a:prstGeom prst="rect">
            <a:avLst/>
          </a:prstGeom>
          <a:solidFill>
            <a:srgbClr val="373737"/>
          </a:solidFill>
          <a:ln>
            <a:solidFill>
              <a:srgbClr val="3737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3383280" cy="4846320"/>
          </a:xfrm>
          <a:prstGeom prst="roundRect">
            <a:avLst/>
          </a:prstGeom>
          <a:solidFill>
            <a:srgbClr val="141414"/>
          </a:solidFill>
          <a:ln w="12700">
            <a:solidFill>
              <a:srgbClr val="3737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737360"/>
            <a:ext cx="29260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FFFFFF"/>
                </a:solidFill>
                <a:latin typeface="Segoe UI"/>
              </a:defRPr>
            </a:pPr>
            <a:r>
              <a:t>Sparse BM25 Retrieval</a:t>
            </a:r>
          </a:p>
          <a:p>
            <a:pPr>
              <a:spcAft>
                <a:spcPts val="600"/>
              </a:spcAft>
              <a:defRPr sz="1300">
                <a:solidFill>
                  <a:srgbClr val="AAAAAA"/>
                </a:solidFill>
                <a:latin typeface="Segoe UI"/>
              </a:defRPr>
            </a:pPr>
            <a:r>
              <a:t>•  Algorithm: Okapi BM25 with k1 = 1.5, b = 0.75.</a:t>
            </a:r>
          </a:p>
          <a:p>
            <a:pPr>
              <a:spcAft>
                <a:spcPts val="600"/>
              </a:spcAft>
              <a:defRPr sz="1300">
                <a:solidFill>
                  <a:srgbClr val="AAAAAA"/>
                </a:solidFill>
                <a:latin typeface="Segoe UI"/>
              </a:defRPr>
            </a:pPr>
            <a:r>
              <a:t>•  Captures verbatim patent numbers, technical acronyms, chemical formulas, and exact legal claims.</a:t>
            </a:r>
          </a:p>
          <a:p>
            <a:pPr>
              <a:spcAft>
                <a:spcPts val="600"/>
              </a:spcAft>
              <a:defRPr sz="1300">
                <a:solidFill>
                  <a:srgbClr val="AAAAAA"/>
                </a:solidFill>
                <a:latin typeface="Segoe UI"/>
              </a:defRPr>
            </a:pPr>
            <a:r>
              <a:t>•  Constructed using Python in-memory inverted index serialized to bm25_index.pkl.</a:t>
            </a:r>
          </a:p>
          <a:p>
            <a:pPr>
              <a:spcAft>
                <a:spcPts val="600"/>
              </a:spcAft>
              <a:defRPr sz="1300">
                <a:solidFill>
                  <a:srgbClr val="AAAAAA"/>
                </a:solidFill>
                <a:latin typeface="Segoe UI"/>
              </a:defRPr>
            </a:pPr>
            <a:r>
              <a:t>•  Sub-millisecond keyword lookup across 500 corpus chunks.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554480"/>
            <a:ext cx="3383280" cy="4846320"/>
          </a:xfrm>
          <a:prstGeom prst="roundRect">
            <a:avLst/>
          </a:prstGeom>
          <a:solidFill>
            <a:srgbClr val="141414"/>
          </a:solidFill>
          <a:ln w="12700">
            <a:solidFill>
              <a:srgbClr val="3737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17720" y="1737360"/>
            <a:ext cx="29260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FFFFFF"/>
                </a:solidFill>
                <a:latin typeface="Segoe UI"/>
              </a:defRPr>
            </a:pPr>
            <a:r>
              <a:t>Dense BGE Vector Retrieval</a:t>
            </a:r>
          </a:p>
          <a:p>
            <a:pPr>
              <a:spcAft>
                <a:spcPts val="600"/>
              </a:spcAft>
              <a:defRPr sz="1300">
                <a:solidFill>
                  <a:srgbClr val="AAAAAA"/>
                </a:solidFill>
                <a:latin typeface="Segoe UI"/>
              </a:defRPr>
            </a:pPr>
            <a:r>
              <a:t>•  Model: BAAI/bge-small-en-v1.5 producing 384-dimensional dense semantic vectors.</a:t>
            </a:r>
          </a:p>
          <a:p>
            <a:pPr>
              <a:spcAft>
                <a:spcPts val="600"/>
              </a:spcAft>
              <a:defRPr sz="1300">
                <a:solidFill>
                  <a:srgbClr val="AAAAAA"/>
                </a:solidFill>
                <a:latin typeface="Segoe UI"/>
              </a:defRPr>
            </a:pPr>
            <a:r>
              <a:t>•  Vector Database: Qdrant vector engine using Cosine similarity metric.</a:t>
            </a:r>
          </a:p>
          <a:p>
            <a:pPr>
              <a:spcAft>
                <a:spcPts val="600"/>
              </a:spcAft>
              <a:defRPr sz="1300">
                <a:solidFill>
                  <a:srgbClr val="AAAAAA"/>
                </a:solidFill>
                <a:latin typeface="Segoe UI"/>
              </a:defRPr>
            </a:pPr>
            <a:r>
              <a:t>•  Captures conceptual equivalence (e.g., 'time-bound distributed locking' matches 'synchronized lease consensus').</a:t>
            </a:r>
          </a:p>
          <a:p>
            <a:pPr>
              <a:spcAft>
                <a:spcPts val="600"/>
              </a:spcAft>
              <a:defRPr sz="1300">
                <a:solidFill>
                  <a:srgbClr val="AAAAAA"/>
                </a:solidFill>
                <a:latin typeface="Segoe UI"/>
              </a:defRPr>
            </a:pPr>
            <a:r>
              <a:t>•  Indexed over 500 USPTO patent chunks.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554480"/>
            <a:ext cx="3383280" cy="4846320"/>
          </a:xfrm>
          <a:prstGeom prst="roundRect">
            <a:avLst/>
          </a:prstGeom>
          <a:solidFill>
            <a:srgbClr val="141414"/>
          </a:solidFill>
          <a:ln w="12700">
            <a:solidFill>
              <a:srgbClr val="3737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75320" y="1737360"/>
            <a:ext cx="29260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FFFFFF"/>
                </a:solidFill>
                <a:latin typeface="Segoe UI"/>
              </a:defRPr>
            </a:pPr>
            <a:r>
              <a:t>Reciprocal Rank Fusion (RRF)</a:t>
            </a:r>
          </a:p>
          <a:p>
            <a:pPr>
              <a:spcAft>
                <a:spcPts val="600"/>
              </a:spcAft>
              <a:defRPr sz="1300">
                <a:solidFill>
                  <a:srgbClr val="AAAAAA"/>
                </a:solidFill>
                <a:latin typeface="Segoe UI"/>
              </a:defRPr>
            </a:pPr>
            <a:r>
              <a:t>•  Fuses candidate ranks without score scale mismatch: RRF(d) = Σ [ 1 / (k + r(d)) ] with k = 60.</a:t>
            </a:r>
          </a:p>
          <a:p>
            <a:pPr>
              <a:spcAft>
                <a:spcPts val="600"/>
              </a:spcAft>
              <a:defRPr sz="1300">
                <a:solidFill>
                  <a:srgbClr val="AAAAAA"/>
                </a:solidFill>
                <a:latin typeface="Segoe UI"/>
              </a:defRPr>
            </a:pPr>
            <a:r>
              <a:t>•  Guarantees robust ranking even if BM25 scores (0-35) and Cosine similarities (0-1) diverge.</a:t>
            </a:r>
          </a:p>
          <a:p>
            <a:pPr>
              <a:spcAft>
                <a:spcPts val="600"/>
              </a:spcAft>
              <a:defRPr sz="1300">
                <a:solidFill>
                  <a:srgbClr val="AAAAAA"/>
                </a:solidFill>
                <a:latin typeface="Segoe UI"/>
              </a:defRPr>
            </a:pPr>
            <a:r>
              <a:t>•  Top candidates from sparse and dense pools are unified into an auditable candidate set.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787878"/>
                </a:solidFill>
                <a:latin typeface="Segoe UI"/>
              </a:defRPr>
            </a:pPr>
            <a:r>
              <a:t>PATENTIQ — ACADEMIC FINAL REVIEW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Segoe UI"/>
              </a:defRPr>
            </a:pPr>
            <a:r>
              <a:t>Cross-Encoder Reranking &amp; Claim Evidence Mapping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25880"/>
            <a:ext cx="10698480" cy="18288"/>
          </a:xfrm>
          <a:prstGeom prst="rect">
            <a:avLst/>
          </a:prstGeom>
          <a:solidFill>
            <a:srgbClr val="373737"/>
          </a:solidFill>
          <a:ln>
            <a:solidFill>
              <a:srgbClr val="3737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5212080" cy="4846320"/>
          </a:xfrm>
          <a:prstGeom prst="roundRect">
            <a:avLst/>
          </a:prstGeom>
          <a:solidFill>
            <a:srgbClr val="141414"/>
          </a:solidFill>
          <a:ln w="12700">
            <a:solidFill>
              <a:srgbClr val="3737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737360"/>
            <a:ext cx="47548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FFFFFF"/>
                </a:solidFill>
                <a:latin typeface="Segoe UI"/>
              </a:defRPr>
            </a:pPr>
            <a:r>
              <a:t>Cross-Encoder Pairwise Attention Reranking</a:t>
            </a:r>
          </a:p>
          <a:p>
            <a:pPr>
              <a:spcAft>
                <a:spcPts val="600"/>
              </a:spcAft>
              <a:defRPr sz="1300">
                <a:solidFill>
                  <a:srgbClr val="AAAAAA"/>
                </a:solidFill>
                <a:latin typeface="Segoe UI"/>
              </a:defRPr>
            </a:pPr>
            <a:r>
              <a:t>•  Limitation of Bi-Encoders: Dual encoders compute vector embeddings independently, losing deep cross-token interaction.</a:t>
            </a:r>
          </a:p>
          <a:p>
            <a:pPr>
              <a:spcAft>
                <a:spcPts val="600"/>
              </a:spcAft>
              <a:defRPr sz="1300">
                <a:solidFill>
                  <a:srgbClr val="AAAAAA"/>
                </a:solidFill>
                <a:latin typeface="Segoe UI"/>
              </a:defRPr>
            </a:pPr>
            <a:r>
              <a:t>•  Cross-Encoder Advantage: BAAI/bge-reranker-base jointly feeds (Query, Candidate Passage) into all Transformer layers, calculating rich multi-head cross-attention.</a:t>
            </a:r>
          </a:p>
          <a:p>
            <a:pPr>
              <a:spcAft>
                <a:spcPts val="600"/>
              </a:spcAft>
              <a:defRPr sz="1300">
                <a:solidFill>
                  <a:srgbClr val="AAAAAA"/>
                </a:solidFill>
                <a:latin typeface="Segoe UI"/>
              </a:defRPr>
            </a:pPr>
            <a:r>
              <a:t>•  Optimization Applied: Candidates per feature bounded to depth 6, allowing fast batched inference on CPU (&lt; 10 seconds total).</a:t>
            </a:r>
          </a:p>
          <a:p>
            <a:pPr>
              <a:spcAft>
                <a:spcPts val="600"/>
              </a:spcAft>
              <a:defRPr sz="1300">
                <a:solidFill>
                  <a:srgbClr val="AAAAAA"/>
                </a:solidFill>
                <a:latin typeface="Segoe UI"/>
              </a:defRPr>
            </a:pPr>
            <a:r>
              <a:t>•  Deterministic Tie-Breaking: Ranked by reranker_score DESC, then rrf_score DESC, ensuring identical results across runs.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554480"/>
            <a:ext cx="5212080" cy="4846320"/>
          </a:xfrm>
          <a:prstGeom prst="roundRect">
            <a:avLst/>
          </a:prstGeom>
          <a:solidFill>
            <a:srgbClr val="141414"/>
          </a:solidFill>
          <a:ln w="12700">
            <a:solidFill>
              <a:srgbClr val="3737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520" y="1737360"/>
            <a:ext cx="47548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FFFFFF"/>
                </a:solidFill>
                <a:latin typeface="Segoe UI"/>
              </a:defRPr>
            </a:pPr>
            <a:r>
              <a:t>Feature-to-Evidence Relationship Mapping</a:t>
            </a:r>
          </a:p>
          <a:p>
            <a:pPr>
              <a:spcAft>
                <a:spcPts val="600"/>
              </a:spcAft>
              <a:defRPr sz="1300">
                <a:solidFill>
                  <a:srgbClr val="AAAAAA"/>
                </a:solidFill>
                <a:latin typeface="Segoe UI"/>
              </a:defRPr>
            </a:pPr>
            <a:r>
              <a:t>•  DIRECT MATCH: Verbatim overlap in core inventive claim elements (triggers 35 U.S.C. 102 anticipation risk).</a:t>
            </a:r>
          </a:p>
          <a:p>
            <a:pPr>
              <a:spcAft>
                <a:spcPts val="600"/>
              </a:spcAft>
              <a:defRPr sz="1300">
                <a:solidFill>
                  <a:srgbClr val="AAAAAA"/>
                </a:solidFill>
                <a:latin typeface="Segoe UI"/>
              </a:defRPr>
            </a:pPr>
            <a:r>
              <a:t>•  PARTIAL OVERLAP: Overlap in technical method or component, but distinct execution (triggers 35 U.S.C. 103 obviousness risk).</a:t>
            </a:r>
          </a:p>
          <a:p>
            <a:pPr>
              <a:spcAft>
                <a:spcPts val="600"/>
              </a:spcAft>
              <a:defRPr sz="1300">
                <a:solidFill>
                  <a:srgbClr val="AAAAAA"/>
                </a:solidFill>
                <a:latin typeface="Segoe UI"/>
              </a:defRPr>
            </a:pPr>
            <a:r>
              <a:t>•  CONTEXTUAL: General domain background mention without conflicting inventive limitation.</a:t>
            </a:r>
          </a:p>
          <a:p>
            <a:pPr>
              <a:spcAft>
                <a:spcPts val="600"/>
              </a:spcAft>
              <a:defRPr sz="1300">
                <a:solidFill>
                  <a:srgbClr val="AAAAAA"/>
                </a:solidFill>
                <a:latin typeface="Segoe UI"/>
              </a:defRPr>
            </a:pPr>
            <a:r>
              <a:t>•  WEAK / NEGLIGIBLE: Irrelevant prior-art noise correctly dismissed from the readiness score calculation.</a:t>
            </a:r>
          </a:p>
          <a:p>
            <a:pPr>
              <a:spcAft>
                <a:spcPts val="600"/>
              </a:spcAft>
              <a:defRPr sz="1300">
                <a:solidFill>
                  <a:srgbClr val="AAAAAA"/>
                </a:solidFill>
                <a:latin typeface="Segoe UI"/>
              </a:defRPr>
            </a:pPr>
            <a:r>
              <a:t>•  Only Direct and Partial mappings count as material overlap in the final EB-PRE metric.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787878"/>
                </a:solidFill>
                <a:latin typeface="Segoe UI"/>
              </a:defRPr>
            </a:pPr>
            <a:r>
              <a:t>PATENTIQ — ACADEMIC FINAL REVIEW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Segoe UI"/>
              </a:defRPr>
            </a:pPr>
            <a:r>
              <a:t>Deterministic EB-PRE Scoring Mathematical Framework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25880"/>
            <a:ext cx="10698480" cy="18288"/>
          </a:xfrm>
          <a:prstGeom prst="rect">
            <a:avLst/>
          </a:prstGeom>
          <a:solidFill>
            <a:srgbClr val="373737"/>
          </a:solidFill>
          <a:ln>
            <a:solidFill>
              <a:srgbClr val="3737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5212080" cy="2331720"/>
          </a:xfrm>
          <a:prstGeom prst="roundRect">
            <a:avLst/>
          </a:prstGeom>
          <a:solidFill>
            <a:srgbClr val="141414"/>
          </a:solidFill>
          <a:ln w="12700">
            <a:solidFill>
              <a:srgbClr val="3737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737360"/>
            <a:ext cx="475488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FFFFFF"/>
                </a:solidFill>
                <a:latin typeface="Segoe UI"/>
              </a:defRPr>
            </a:pPr>
            <a:r>
              <a:t>D1: Novelty Risk (Weight: 25%)</a:t>
            </a:r>
          </a:p>
          <a:p>
            <a:pPr>
              <a:spcAft>
                <a:spcPts val="600"/>
              </a:spcAft>
              <a:defRPr sz="1300">
                <a:solidFill>
                  <a:srgbClr val="AAAAAA"/>
                </a:solidFill>
                <a:latin typeface="Segoe UI"/>
              </a:defRPr>
            </a:pPr>
            <a:r>
              <a:t>•  Measures single-document prior art anticipation (35 U.S.C. 102).</a:t>
            </a:r>
          </a:p>
          <a:p>
            <a:pPr>
              <a:spcAft>
                <a:spcPts val="600"/>
              </a:spcAft>
              <a:defRPr sz="1300">
                <a:solidFill>
                  <a:srgbClr val="AAAAAA"/>
                </a:solidFill>
                <a:latin typeface="Segoe UI"/>
              </a:defRPr>
            </a:pPr>
            <a:r>
              <a:t>•  Formula: S1 = 100 * (1.0 - max_prior_art_overlap).</a:t>
            </a:r>
          </a:p>
          <a:p>
            <a:pPr>
              <a:spcAft>
                <a:spcPts val="600"/>
              </a:spcAft>
              <a:defRPr sz="1300">
                <a:solidFill>
                  <a:srgbClr val="AAAAAA"/>
                </a:solidFill>
                <a:latin typeface="Segoe UI"/>
              </a:defRPr>
            </a:pPr>
            <a:r>
              <a:t>•  High score = strong novelty with zero identical prior disclosures.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554480"/>
            <a:ext cx="5212080" cy="2331720"/>
          </a:xfrm>
          <a:prstGeom prst="roundRect">
            <a:avLst/>
          </a:prstGeom>
          <a:solidFill>
            <a:srgbClr val="141414"/>
          </a:solidFill>
          <a:ln w="12700">
            <a:solidFill>
              <a:srgbClr val="3737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520" y="1737360"/>
            <a:ext cx="475488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FFFFFF"/>
                </a:solidFill>
                <a:latin typeface="Segoe UI"/>
              </a:defRPr>
            </a:pPr>
            <a:r>
              <a:t>D2: Non-Obviousness (Weight: 20%)</a:t>
            </a:r>
          </a:p>
          <a:p>
            <a:pPr>
              <a:spcAft>
                <a:spcPts val="600"/>
              </a:spcAft>
              <a:defRPr sz="1300">
                <a:solidFill>
                  <a:srgbClr val="AAAAAA"/>
                </a:solidFill>
                <a:latin typeface="Segoe UI"/>
              </a:defRPr>
            </a:pPr>
            <a:r>
              <a:t>•  Evaluates multi-patent combinational obviousness (35 U.S.C. 103).</a:t>
            </a:r>
          </a:p>
          <a:p>
            <a:pPr>
              <a:spcAft>
                <a:spcPts val="600"/>
              </a:spcAft>
              <a:defRPr sz="1300">
                <a:solidFill>
                  <a:srgbClr val="AAAAAA"/>
                </a:solidFill>
                <a:latin typeface="Segoe UI"/>
              </a:defRPr>
            </a:pPr>
            <a:r>
              <a:t>•  Formula: S2 = 100 * (1.0 - multi_document_overlap_ratio).</a:t>
            </a:r>
          </a:p>
          <a:p>
            <a:pPr>
              <a:spcAft>
                <a:spcPts val="600"/>
              </a:spcAft>
              <a:defRPr sz="1300">
                <a:solidFill>
                  <a:srgbClr val="AAAAAA"/>
                </a:solidFill>
                <a:latin typeface="Segoe UI"/>
              </a:defRPr>
            </a:pPr>
            <a:r>
              <a:t>•  Detects whether features can be trivially combined by one skilled in the art.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069080"/>
            <a:ext cx="5212080" cy="2331720"/>
          </a:xfrm>
          <a:prstGeom prst="roundRect">
            <a:avLst/>
          </a:prstGeom>
          <a:solidFill>
            <a:srgbClr val="141414"/>
          </a:solidFill>
          <a:ln w="12700">
            <a:solidFill>
              <a:srgbClr val="3737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4251960"/>
            <a:ext cx="475488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FFFFFF"/>
                </a:solidFill>
                <a:latin typeface="Segoe UI"/>
              </a:defRPr>
            </a:pPr>
            <a:r>
              <a:t>D3 &amp; D4: Specificity &amp; Breadth (Weight: 30%)</a:t>
            </a:r>
          </a:p>
          <a:p>
            <a:pPr>
              <a:spcAft>
                <a:spcPts val="600"/>
              </a:spcAft>
              <a:defRPr sz="1300">
                <a:solidFill>
                  <a:srgbClr val="AAAAAA"/>
                </a:solidFill>
                <a:latin typeface="Segoe UI"/>
              </a:defRPr>
            </a:pPr>
            <a:r>
              <a:t>•  Technical Specificity (D3, 15%): Ratio of actionable algorithmic/hardware parameters vs vague statements.</a:t>
            </a:r>
          </a:p>
          <a:p>
            <a:pPr>
              <a:spcAft>
                <a:spcPts val="600"/>
              </a:spcAft>
              <a:defRPr sz="1300">
                <a:solidFill>
                  <a:srgbClr val="AAAAAA"/>
                </a:solidFill>
                <a:latin typeface="Segoe UI"/>
              </a:defRPr>
            </a:pPr>
            <a:r>
              <a:t>•  Claim Scope &amp; Breadth (D4, 15%): Balance between defensive legal protection and commercial viability.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4069080"/>
            <a:ext cx="5212080" cy="2331720"/>
          </a:xfrm>
          <a:prstGeom prst="roundRect">
            <a:avLst/>
          </a:prstGeom>
          <a:solidFill>
            <a:srgbClr val="141414"/>
          </a:solidFill>
          <a:ln w="12700">
            <a:solidFill>
              <a:srgbClr val="3737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4251960"/>
            <a:ext cx="475488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FFFFFF"/>
                </a:solidFill>
                <a:latin typeface="Segoe UI"/>
              </a:defRPr>
            </a:pPr>
            <a:r>
              <a:t>D5 &amp; D6: Prior-Art &amp; Eligibility (Weight: 25%)</a:t>
            </a:r>
          </a:p>
          <a:p>
            <a:pPr>
              <a:spcAft>
                <a:spcPts val="600"/>
              </a:spcAft>
              <a:defRPr sz="1300">
                <a:solidFill>
                  <a:srgbClr val="AAAAAA"/>
                </a:solidFill>
                <a:latin typeface="Segoe UI"/>
              </a:defRPr>
            </a:pPr>
            <a:r>
              <a:t>•  Prior-Art Proximity (D5, 15%): Vector distance from nearest patent cluster in Qdrant.</a:t>
            </a:r>
          </a:p>
          <a:p>
            <a:pPr>
              <a:spcAft>
                <a:spcPts val="600"/>
              </a:spcAft>
              <a:defRPr sz="1300">
                <a:solidFill>
                  <a:srgbClr val="AAAAAA"/>
                </a:solidFill>
                <a:latin typeface="Segoe UI"/>
              </a:defRPr>
            </a:pPr>
            <a:r>
              <a:t>•  Statutory Eligibility (D6, 10%): Alice/Mayo framework check (35 U.S.C. 101) preventing abstract idea rejections.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787878"/>
                </a:solidFill>
                <a:latin typeface="Segoe UI"/>
              </a:defRPr>
            </a:pPr>
            <a:r>
              <a:t>PATENTIQ — ACADEMIC FINAL REVIEW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Segoe UI"/>
              </a:defRPr>
            </a:pPr>
            <a:r>
              <a:t>USPTO 100-Patent Pilot Corpus &amp; Indexing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25880"/>
            <a:ext cx="10698480" cy="18288"/>
          </a:xfrm>
          <a:prstGeom prst="rect">
            <a:avLst/>
          </a:prstGeom>
          <a:solidFill>
            <a:srgbClr val="373737"/>
          </a:solidFill>
          <a:ln>
            <a:solidFill>
              <a:srgbClr val="3737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3383280" cy="4846320"/>
          </a:xfrm>
          <a:prstGeom prst="roundRect">
            <a:avLst/>
          </a:prstGeom>
          <a:solidFill>
            <a:srgbClr val="141414"/>
          </a:solidFill>
          <a:ln w="12700">
            <a:solidFill>
              <a:srgbClr val="3737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737360"/>
            <a:ext cx="29260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FFFFFF"/>
                </a:solidFill>
                <a:latin typeface="Segoe UI"/>
              </a:defRPr>
            </a:pPr>
            <a:r>
              <a:t>Corpus Compilation</a:t>
            </a:r>
          </a:p>
          <a:p>
            <a:pPr>
              <a:spcAft>
                <a:spcPts val="600"/>
              </a:spcAft>
              <a:defRPr sz="1300">
                <a:solidFill>
                  <a:srgbClr val="AAAAAA"/>
                </a:solidFill>
                <a:latin typeface="Segoe UI"/>
              </a:defRPr>
            </a:pPr>
            <a:r>
              <a:t>•  Real USPTO patents collected from official gazettes and bulk datasets.</a:t>
            </a:r>
          </a:p>
          <a:p>
            <a:pPr>
              <a:spcAft>
                <a:spcPts val="600"/>
              </a:spcAft>
              <a:defRPr sz="1300">
                <a:solidFill>
                  <a:srgbClr val="AAAAAA"/>
                </a:solidFill>
                <a:latin typeface="Segoe UI"/>
              </a:defRPr>
            </a:pPr>
            <a:r>
              <a:t>•  100 complete patent documents across distributed computing, machine learning, cryptography, and cloud systems.</a:t>
            </a:r>
          </a:p>
          <a:p>
            <a:pPr>
              <a:spcAft>
                <a:spcPts val="600"/>
              </a:spcAft>
              <a:defRPr sz="1300">
                <a:solidFill>
                  <a:srgbClr val="AAAAAA"/>
                </a:solidFill>
                <a:latin typeface="Segoe UI"/>
              </a:defRPr>
            </a:pPr>
            <a:r>
              <a:t>•  Curated into 500 clean, normalized text passages with full legal citations (patent numbers, claims, dates).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554480"/>
            <a:ext cx="3383280" cy="4846320"/>
          </a:xfrm>
          <a:prstGeom prst="roundRect">
            <a:avLst/>
          </a:prstGeom>
          <a:solidFill>
            <a:srgbClr val="141414"/>
          </a:solidFill>
          <a:ln w="12700">
            <a:solidFill>
              <a:srgbClr val="3737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17720" y="1737360"/>
            <a:ext cx="29260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FFFFFF"/>
                </a:solidFill>
                <a:latin typeface="Segoe UI"/>
              </a:defRPr>
            </a:pPr>
            <a:r>
              <a:t>Dual Physical Storage</a:t>
            </a:r>
          </a:p>
          <a:p>
            <a:pPr>
              <a:spcAft>
                <a:spcPts val="600"/>
              </a:spcAft>
              <a:defRPr sz="1300">
                <a:solidFill>
                  <a:srgbClr val="AAAAAA"/>
                </a:solidFill>
                <a:latin typeface="Segoe UI"/>
              </a:defRPr>
            </a:pPr>
            <a:r>
              <a:t>•  Qdrant Vector Database: Real persistent vector store located at data/real_patents_pilot/qdrant_db.</a:t>
            </a:r>
          </a:p>
          <a:p>
            <a:pPr>
              <a:spcAft>
                <a:spcPts val="600"/>
              </a:spcAft>
              <a:defRPr sz="1300">
                <a:solidFill>
                  <a:srgbClr val="AAAAAA"/>
                </a:solidFill>
                <a:latin typeface="Segoe UI"/>
              </a:defRPr>
            </a:pPr>
            <a:r>
              <a:t>•  500 vector points indexed in collection 'patent_prior_art_pilot_uspto2016'.</a:t>
            </a:r>
          </a:p>
          <a:p>
            <a:pPr>
              <a:spcAft>
                <a:spcPts val="600"/>
              </a:spcAft>
              <a:defRPr sz="1300">
                <a:solidFill>
                  <a:srgbClr val="AAAAAA"/>
                </a:solidFill>
                <a:latin typeface="Segoe UI"/>
              </a:defRPr>
            </a:pPr>
            <a:r>
              <a:t>•  BM25 Inverted File: Pickled lexical catalog storing term frequencies, document lengths, and chunk references.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554480"/>
            <a:ext cx="3383280" cy="4846320"/>
          </a:xfrm>
          <a:prstGeom prst="roundRect">
            <a:avLst/>
          </a:prstGeom>
          <a:solidFill>
            <a:srgbClr val="141414"/>
          </a:solidFill>
          <a:ln w="12700">
            <a:solidFill>
              <a:srgbClr val="3737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75320" y="1737360"/>
            <a:ext cx="29260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FFFFFF"/>
                </a:solidFill>
                <a:latin typeface="Segoe UI"/>
              </a:defRPr>
            </a:pPr>
            <a:r>
              <a:t>Corpus Verification Evidence</a:t>
            </a:r>
          </a:p>
          <a:p>
            <a:pPr>
              <a:spcAft>
                <a:spcPts val="600"/>
              </a:spcAft>
              <a:defRPr sz="1300">
                <a:solidFill>
                  <a:srgbClr val="AAAAAA"/>
                </a:solidFill>
                <a:latin typeface="Segoe UI"/>
              </a:defRPr>
            </a:pPr>
            <a:r>
              <a:t>•  Total Patents: 100 unique USPTO grants.</a:t>
            </a:r>
          </a:p>
          <a:p>
            <a:pPr>
              <a:spcAft>
                <a:spcPts val="600"/>
              </a:spcAft>
              <a:defRPr sz="1300">
                <a:solidFill>
                  <a:srgbClr val="AAAAAA"/>
                </a:solidFill>
                <a:latin typeface="Segoe UI"/>
              </a:defRPr>
            </a:pPr>
            <a:r>
              <a:t>•  Total Searchable Chunks: 500 indexed passages.</a:t>
            </a:r>
          </a:p>
          <a:p>
            <a:pPr>
              <a:spcAft>
                <a:spcPts val="600"/>
              </a:spcAft>
              <a:defRPr sz="1300">
                <a:solidFill>
                  <a:srgbClr val="AAAAAA"/>
                </a:solidFill>
                <a:latin typeface="Segoe UI"/>
              </a:defRPr>
            </a:pPr>
            <a:r>
              <a:t>•  Vector Dimension: 384 (BGE small).</a:t>
            </a:r>
          </a:p>
          <a:p>
            <a:pPr>
              <a:spcAft>
                <a:spcPts val="600"/>
              </a:spcAft>
              <a:defRPr sz="1300">
                <a:solidFill>
                  <a:srgbClr val="AAAAAA"/>
                </a:solidFill>
                <a:latin typeface="Segoe UI"/>
              </a:defRPr>
            </a:pPr>
            <a:r>
              <a:t>•  BM25 Memory Footprint: ~12 MB.</a:t>
            </a:r>
          </a:p>
          <a:p>
            <a:pPr>
              <a:spcAft>
                <a:spcPts val="600"/>
              </a:spcAft>
              <a:defRPr sz="1300">
                <a:solidFill>
                  <a:srgbClr val="AAAAAA"/>
                </a:solidFill>
                <a:latin typeface="Segoe UI"/>
              </a:defRPr>
            </a:pPr>
            <a:r>
              <a:t>•  Instant cold-boot startup (&lt; 2 seconds).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787878"/>
                </a:solidFill>
                <a:latin typeface="Segoe UI"/>
              </a:defRPr>
            </a:pPr>
            <a:r>
              <a:t>PATENTIQ — ACADEMIC FINAL REVIEW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Segoe UI"/>
              </a:defRPr>
            </a:pPr>
            <a:r>
              <a:t>Grounded Report Generation &amp; Zero-Failure Safety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25880"/>
            <a:ext cx="10698480" cy="18288"/>
          </a:xfrm>
          <a:prstGeom prst="rect">
            <a:avLst/>
          </a:prstGeom>
          <a:solidFill>
            <a:srgbClr val="373737"/>
          </a:solidFill>
          <a:ln>
            <a:solidFill>
              <a:srgbClr val="3737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5212080" cy="4846320"/>
          </a:xfrm>
          <a:prstGeom prst="roundRect">
            <a:avLst/>
          </a:prstGeom>
          <a:solidFill>
            <a:srgbClr val="141414"/>
          </a:solidFill>
          <a:ln w="12700">
            <a:solidFill>
              <a:srgbClr val="3737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737360"/>
            <a:ext cx="47548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FFFFFF"/>
                </a:solidFill>
                <a:latin typeface="Segoe UI"/>
              </a:defRPr>
            </a:pPr>
            <a:r>
              <a:t>Grounded LLM Explainer (Gemini 3.1 Pro)</a:t>
            </a:r>
          </a:p>
          <a:p>
            <a:pPr>
              <a:spcAft>
                <a:spcPts val="600"/>
              </a:spcAft>
              <a:defRPr sz="1300">
                <a:solidFill>
                  <a:srgbClr val="AAAAAA"/>
                </a:solidFill>
                <a:latin typeface="Segoe UI"/>
              </a:defRPr>
            </a:pPr>
            <a:r>
              <a:t>•  Generates a 10-section structured legal-technical patent readiness audit.</a:t>
            </a:r>
          </a:p>
          <a:p>
            <a:pPr>
              <a:spcAft>
                <a:spcPts val="600"/>
              </a:spcAft>
              <a:defRPr sz="1300">
                <a:solidFill>
                  <a:srgbClr val="AAAAAA"/>
                </a:solidFill>
                <a:latin typeface="Segoe UI"/>
              </a:defRPr>
            </a:pPr>
            <a:r>
              <a:t>•  Strict Grounding Rules: The model is strictly prohibited from inventing prior-art patent numbers or modifying EB-PRE dimension scores.</a:t>
            </a:r>
          </a:p>
          <a:p>
            <a:pPr>
              <a:spcAft>
                <a:spcPts val="600"/>
              </a:spcAft>
              <a:defRPr sz="1300">
                <a:solidFill>
                  <a:srgbClr val="AAAAAA"/>
                </a:solidFill>
                <a:latin typeface="Segoe UI"/>
              </a:defRPr>
            </a:pPr>
            <a:r>
              <a:t>•  Grounding Validator: Verifies that all citations match real passages in the Evidence Matrix before returning the report.</a:t>
            </a:r>
          </a:p>
          <a:p>
            <a:pPr>
              <a:spcAft>
                <a:spcPts val="600"/>
              </a:spcAft>
              <a:defRPr sz="1300">
                <a:solidFill>
                  <a:srgbClr val="AAAAAA"/>
                </a:solidFill>
                <a:latin typeface="Segoe UI"/>
              </a:defRPr>
            </a:pPr>
            <a:r>
              <a:t>•  Produces executive summaries, patentability recommendations, claim refinement guidance, and risk mitigations.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554480"/>
            <a:ext cx="5212080" cy="4846320"/>
          </a:xfrm>
          <a:prstGeom prst="roundRect">
            <a:avLst/>
          </a:prstGeom>
          <a:solidFill>
            <a:srgbClr val="141414"/>
          </a:solidFill>
          <a:ln w="12700">
            <a:solidFill>
              <a:srgbClr val="3737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520" y="1737360"/>
            <a:ext cx="47548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FFFFFF"/>
                </a:solidFill>
                <a:latin typeface="Segoe UI"/>
              </a:defRPr>
            </a:pPr>
            <a:r>
              <a:t>Deterministic Fallback Guarantee (100% Panel Uptime)</a:t>
            </a:r>
          </a:p>
          <a:p>
            <a:pPr>
              <a:spcAft>
                <a:spcPts val="600"/>
              </a:spcAft>
              <a:defRPr sz="1300">
                <a:solidFill>
                  <a:srgbClr val="AAAAAA"/>
                </a:solidFill>
                <a:latin typeface="Segoe UI"/>
              </a:defRPr>
            </a:pPr>
            <a:r>
              <a:t>•  The Challenge: Free-tier external LLM APIs frequently return HTTP 429 Quota Exhaustion or network timeouts during live demos.</a:t>
            </a:r>
          </a:p>
          <a:p>
            <a:pPr>
              <a:spcAft>
                <a:spcPts val="600"/>
              </a:spcAft>
              <a:defRPr sz="1300">
                <a:solidFill>
                  <a:srgbClr val="AAAAAA"/>
                </a:solidFill>
                <a:latin typeface="Segoe UI"/>
              </a:defRPr>
            </a:pPr>
            <a:r>
              <a:t>•  Deterministic Fallback: If Gemini quota is exceeded or offline, PatentIQ immediately switches to an internal template-based legal synthesis engine in 0.05 seconds.</a:t>
            </a:r>
          </a:p>
          <a:p>
            <a:pPr>
              <a:spcAft>
                <a:spcPts val="600"/>
              </a:spcAft>
              <a:defRPr sz="1300">
                <a:solidFill>
                  <a:srgbClr val="AAAAAA"/>
                </a:solidFill>
                <a:latin typeface="Segoe UI"/>
              </a:defRPr>
            </a:pPr>
            <a:r>
              <a:t>•  No Pipeline Abortion: All 6 dimension scores, Evidence Matrix mappings, and risk assessments are preserved perfectly.</a:t>
            </a:r>
          </a:p>
          <a:p>
            <a:pPr>
              <a:spcAft>
                <a:spcPts val="600"/>
              </a:spcAft>
              <a:defRPr sz="1300">
                <a:solidFill>
                  <a:srgbClr val="AAAAAA"/>
                </a:solidFill>
                <a:latin typeface="Segoe UI"/>
              </a:defRPr>
            </a:pPr>
            <a:r>
              <a:t>•  Verified by automated regression tests (test_pipeline_response_returned_after_gemini_fallback: PASSED).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787878"/>
                </a:solidFill>
                <a:latin typeface="Segoe UI"/>
              </a:defRPr>
            </a:pPr>
            <a:r>
              <a:t>PATENTIQ — ACADEMIC FINAL REVIEW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Segoe UI"/>
              </a:defRPr>
            </a:pPr>
            <a:r>
              <a:t>Full-Stack Implementation &amp; Durable Database Architecture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25880"/>
            <a:ext cx="10698480" cy="18288"/>
          </a:xfrm>
          <a:prstGeom prst="rect">
            <a:avLst/>
          </a:prstGeom>
          <a:solidFill>
            <a:srgbClr val="373737"/>
          </a:solidFill>
          <a:ln>
            <a:solidFill>
              <a:srgbClr val="3737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3383280" cy="4846320"/>
          </a:xfrm>
          <a:prstGeom prst="roundRect">
            <a:avLst/>
          </a:prstGeom>
          <a:solidFill>
            <a:srgbClr val="141414"/>
          </a:solidFill>
          <a:ln w="12700">
            <a:solidFill>
              <a:srgbClr val="3737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737360"/>
            <a:ext cx="29260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FFFFFF"/>
                </a:solidFill>
                <a:latin typeface="Segoe UI"/>
              </a:defRPr>
            </a:pPr>
            <a:r>
              <a:t>Frontend Architecture</a:t>
            </a:r>
          </a:p>
          <a:p>
            <a:pPr>
              <a:spcAft>
                <a:spcPts val="600"/>
              </a:spcAft>
              <a:defRPr sz="1300">
                <a:solidFill>
                  <a:srgbClr val="AAAAAA"/>
                </a:solidFill>
                <a:latin typeface="Segoe UI"/>
              </a:defRPr>
            </a:pPr>
            <a:r>
              <a:t>•  Framework: React 19 + Vite for sub-second hot reloading.</a:t>
            </a:r>
          </a:p>
          <a:p>
            <a:pPr>
              <a:spcAft>
                <a:spcPts val="600"/>
              </a:spcAft>
              <a:defRPr sz="1300">
                <a:solidFill>
                  <a:srgbClr val="AAAAAA"/>
                </a:solidFill>
                <a:latin typeface="Segoe UI"/>
              </a:defRPr>
            </a:pPr>
            <a:r>
              <a:t>•  Styling: Tailwind CSS with dark slate theme and glassmorphism cards.</a:t>
            </a:r>
          </a:p>
          <a:p>
            <a:pPr>
              <a:spcAft>
                <a:spcPts val="600"/>
              </a:spcAft>
              <a:defRPr sz="1300">
                <a:solidFill>
                  <a:srgbClr val="AAAAAA"/>
                </a:solidFill>
                <a:latin typeface="Segoe UI"/>
              </a:defRPr>
            </a:pPr>
            <a:r>
              <a:t>•  Animations: Framer Motion for smooth 8-stage pipeline visualization.</a:t>
            </a:r>
          </a:p>
          <a:p>
            <a:pPr>
              <a:spcAft>
                <a:spcPts val="600"/>
              </a:spcAft>
              <a:defRPr sz="1300">
                <a:solidFill>
                  <a:srgbClr val="AAAAAA"/>
                </a:solidFill>
                <a:latin typeface="Segoe UI"/>
              </a:defRPr>
            </a:pPr>
            <a:r>
              <a:t>•  Icons: Lucide-react for high-contrast visual cues.</a:t>
            </a:r>
          </a:p>
          <a:p>
            <a:pPr>
              <a:spcAft>
                <a:spcPts val="600"/>
              </a:spcAft>
              <a:defRPr sz="1300">
                <a:solidFill>
                  <a:srgbClr val="AAAAAA"/>
                </a:solidFill>
                <a:latin typeface="Segoe UI"/>
              </a:defRPr>
            </a:pPr>
            <a:r>
              <a:t>•  Production Bundle: Verified 0 build errors in 12.8s.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554480"/>
            <a:ext cx="3383280" cy="4846320"/>
          </a:xfrm>
          <a:prstGeom prst="roundRect">
            <a:avLst/>
          </a:prstGeom>
          <a:solidFill>
            <a:srgbClr val="141414"/>
          </a:solidFill>
          <a:ln w="12700">
            <a:solidFill>
              <a:srgbClr val="3737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17720" y="1737360"/>
            <a:ext cx="29260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FFFFFF"/>
                </a:solidFill>
                <a:latin typeface="Segoe UI"/>
              </a:defRPr>
            </a:pPr>
            <a:r>
              <a:t>Backend Architecture</a:t>
            </a:r>
          </a:p>
          <a:p>
            <a:pPr>
              <a:spcAft>
                <a:spcPts val="600"/>
              </a:spcAft>
              <a:defRPr sz="1300">
                <a:solidFill>
                  <a:srgbClr val="AAAAAA"/>
                </a:solidFill>
                <a:latin typeface="Segoe UI"/>
              </a:defRPr>
            </a:pPr>
            <a:r>
              <a:t>•  Framework: FastAPI (Python 3.14) with async endpoint handlers.</a:t>
            </a:r>
          </a:p>
          <a:p>
            <a:pPr>
              <a:spcAft>
                <a:spcPts val="600"/>
              </a:spcAft>
              <a:defRPr sz="1300">
                <a:solidFill>
                  <a:srgbClr val="AAAAAA"/>
                </a:solidFill>
                <a:latin typeface="Segoe UI"/>
              </a:defRPr>
            </a:pPr>
            <a:r>
              <a:t>•  Authentication: Dual-mode support — Real Google OAuth 2.0 + Local Evaluator Demo session.</a:t>
            </a:r>
          </a:p>
          <a:p>
            <a:pPr>
              <a:spcAft>
                <a:spcPts val="600"/>
              </a:spcAft>
              <a:defRPr sz="1300">
                <a:solidFill>
                  <a:srgbClr val="AAAAAA"/>
                </a:solidFill>
                <a:latin typeface="Segoe UI"/>
              </a:defRPr>
            </a:pPr>
            <a:r>
              <a:t>•  Type Safety: Pydantic v2 schemas across all routes and services.</a:t>
            </a:r>
          </a:p>
          <a:p>
            <a:pPr>
              <a:spcAft>
                <a:spcPts val="600"/>
              </a:spcAft>
              <a:defRPr sz="1300">
                <a:solidFill>
                  <a:srgbClr val="AAAAAA"/>
                </a:solidFill>
                <a:latin typeface="Segoe UI"/>
              </a:defRPr>
            </a:pPr>
            <a:r>
              <a:t>•  RESTful API: 14 modular routers including pipeline, retrieval, and health.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554480"/>
            <a:ext cx="3383280" cy="4846320"/>
          </a:xfrm>
          <a:prstGeom prst="roundRect">
            <a:avLst/>
          </a:prstGeom>
          <a:solidFill>
            <a:srgbClr val="141414"/>
          </a:solidFill>
          <a:ln w="12700">
            <a:solidFill>
              <a:srgbClr val="3737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75320" y="1737360"/>
            <a:ext cx="29260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FFFFFF"/>
                </a:solidFill>
                <a:latin typeface="Segoe UI"/>
              </a:defRPr>
            </a:pPr>
            <a:r>
              <a:t>Durable ACID Storage</a:t>
            </a:r>
          </a:p>
          <a:p>
            <a:pPr>
              <a:spcAft>
                <a:spcPts val="600"/>
              </a:spcAft>
              <a:defRPr sz="1300">
                <a:solidFill>
                  <a:srgbClr val="AAAAAA"/>
                </a:solidFill>
                <a:latin typeface="Segoe UI"/>
              </a:defRPr>
            </a:pPr>
            <a:r>
              <a:t>•  Database: SQLite ACID engine at data/patentiq_local.db.</a:t>
            </a:r>
          </a:p>
          <a:p>
            <a:pPr>
              <a:spcAft>
                <a:spcPts val="600"/>
              </a:spcAft>
              <a:defRPr sz="1300">
                <a:solidFill>
                  <a:srgbClr val="AAAAAA"/>
                </a:solidFill>
                <a:latin typeface="Segoe UI"/>
              </a:defRPr>
            </a:pPr>
            <a:r>
              <a:t>•  Survives Restarts: Projects, document chunks, features, evidence items, and reports persist permanently.</a:t>
            </a:r>
          </a:p>
          <a:p>
            <a:pPr>
              <a:spcAft>
                <a:spcPts val="600"/>
              </a:spcAft>
              <a:defRPr sz="1300">
                <a:solidFill>
                  <a:srgbClr val="AAAAAA"/>
                </a:solidFill>
                <a:latin typeface="Segoe UI"/>
              </a:defRPr>
            </a:pPr>
            <a:r>
              <a:t>•  Foreign-Key Constraints: Cascade deletions and relational integrity across project ownership.</a:t>
            </a:r>
          </a:p>
          <a:p>
            <a:pPr>
              <a:spcAft>
                <a:spcPts val="600"/>
              </a:spcAft>
              <a:defRPr sz="1300">
                <a:solidFill>
                  <a:srgbClr val="AAAAAA"/>
                </a:solidFill>
                <a:latin typeface="Segoe UI"/>
              </a:defRPr>
            </a:pPr>
            <a:r>
              <a:t>•  Verified restart survival.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787878"/>
                </a:solidFill>
                <a:latin typeface="Segoe UI"/>
              </a:defRPr>
            </a:pPr>
            <a:r>
              <a:t>PATENTIQ — ACADEMIC FINAL REVIEW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Segoe UI"/>
              </a:defRPr>
            </a:pPr>
            <a:r>
              <a:t>Experimental Evaluation &amp; Performance Benchmarks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25880"/>
            <a:ext cx="10698480" cy="18288"/>
          </a:xfrm>
          <a:prstGeom prst="rect">
            <a:avLst/>
          </a:prstGeom>
          <a:solidFill>
            <a:srgbClr val="373737"/>
          </a:solidFill>
          <a:ln>
            <a:solidFill>
              <a:srgbClr val="3737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5212080" cy="2331720"/>
          </a:xfrm>
          <a:prstGeom prst="roundRect">
            <a:avLst/>
          </a:prstGeom>
          <a:solidFill>
            <a:srgbClr val="141414"/>
          </a:solidFill>
          <a:ln w="12700">
            <a:solidFill>
              <a:srgbClr val="3737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737360"/>
            <a:ext cx="475488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FFFFFF"/>
                </a:solidFill>
                <a:latin typeface="Segoe UI"/>
              </a:defRPr>
            </a:pPr>
            <a:r>
              <a:t>End-to-End Pipeline Execution Time</a:t>
            </a:r>
          </a:p>
          <a:p>
            <a:pPr>
              <a:spcAft>
                <a:spcPts val="600"/>
              </a:spcAft>
              <a:defRPr sz="1300">
                <a:solidFill>
                  <a:srgbClr val="AAAAAA"/>
                </a:solidFill>
                <a:latin typeface="Segoe UI"/>
              </a:defRPr>
            </a:pPr>
            <a:r>
              <a:t>•  Document Parsing &amp; AST Chunking: 0.18s</a:t>
            </a:r>
          </a:p>
          <a:p>
            <a:pPr>
              <a:spcAft>
                <a:spcPts val="600"/>
              </a:spcAft>
              <a:defRPr sz="1300">
                <a:solidFill>
                  <a:srgbClr val="AAAAAA"/>
                </a:solidFill>
                <a:latin typeface="Segoe UI"/>
              </a:defRPr>
            </a:pPr>
            <a:r>
              <a:t>•  Feature Extraction &amp; Normalization: 0.09s</a:t>
            </a:r>
          </a:p>
          <a:p>
            <a:pPr>
              <a:spcAft>
                <a:spcPts val="600"/>
              </a:spcAft>
              <a:defRPr sz="1300">
                <a:solidFill>
                  <a:srgbClr val="AAAAAA"/>
                </a:solidFill>
                <a:latin typeface="Segoe UI"/>
              </a:defRPr>
            </a:pPr>
            <a:r>
              <a:t>•  Hybrid Retrieval (BM25 + BGE Dense + RRF): 3.2s</a:t>
            </a:r>
          </a:p>
          <a:p>
            <a:pPr>
              <a:spcAft>
                <a:spcPts val="600"/>
              </a:spcAft>
              <a:defRPr sz="1300">
                <a:solidFill>
                  <a:srgbClr val="AAAAAA"/>
                </a:solidFill>
                <a:latin typeface="Segoe UI"/>
              </a:defRPr>
            </a:pPr>
            <a:r>
              <a:t>•  Cross-Encoder Reranking (BGE Base): 4.1s</a:t>
            </a:r>
          </a:p>
          <a:p>
            <a:pPr>
              <a:spcAft>
                <a:spcPts val="600"/>
              </a:spcAft>
              <a:defRPr sz="1300">
                <a:solidFill>
                  <a:srgbClr val="AAAAAA"/>
                </a:solidFill>
                <a:latin typeface="Segoe UI"/>
              </a:defRPr>
            </a:pPr>
            <a:r>
              <a:t>•  EB-PRE Evaluation &amp; Persistence: 0.04s</a:t>
            </a:r>
          </a:p>
          <a:p>
            <a:pPr>
              <a:spcAft>
                <a:spcPts val="600"/>
              </a:spcAft>
              <a:defRPr sz="1300">
                <a:solidFill>
                  <a:srgbClr val="AAAAAA"/>
                </a:solidFill>
                <a:latin typeface="Segoe UI"/>
              </a:defRPr>
            </a:pPr>
            <a:r>
              <a:t>•  Total Pipeline Latency: ~15 to 25 seconds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554480"/>
            <a:ext cx="5212080" cy="2331720"/>
          </a:xfrm>
          <a:prstGeom prst="roundRect">
            <a:avLst/>
          </a:prstGeom>
          <a:solidFill>
            <a:srgbClr val="141414"/>
          </a:solidFill>
          <a:ln w="12700">
            <a:solidFill>
              <a:srgbClr val="3737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520" y="1737360"/>
            <a:ext cx="475488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FFFFFF"/>
                </a:solidFill>
                <a:latin typeface="Segoe UI"/>
              </a:defRPr>
            </a:pPr>
            <a:r>
              <a:t>Automated Test Suite Coverage</a:t>
            </a:r>
          </a:p>
          <a:p>
            <a:pPr>
              <a:spcAft>
                <a:spcPts val="600"/>
              </a:spcAft>
              <a:defRPr sz="1300">
                <a:solidFill>
                  <a:srgbClr val="AAAAAA"/>
                </a:solidFill>
                <a:latin typeface="Segoe UI"/>
              </a:defRPr>
            </a:pPr>
            <a:r>
              <a:t>•  207 Total Automated Unit &amp; Integration Tests in pytest.</a:t>
            </a:r>
          </a:p>
          <a:p>
            <a:pPr>
              <a:spcAft>
                <a:spcPts val="600"/>
              </a:spcAft>
              <a:defRPr sz="1300">
                <a:solidFill>
                  <a:srgbClr val="AAAAAA"/>
                </a:solidFill>
                <a:latin typeface="Segoe UI"/>
              </a:defRPr>
            </a:pPr>
            <a:r>
              <a:t>•  100% Pass Rate across retrieval, scoring, and persistence.</a:t>
            </a:r>
          </a:p>
          <a:p>
            <a:pPr>
              <a:spcAft>
                <a:spcPts val="600"/>
              </a:spcAft>
              <a:defRPr sz="1300">
                <a:solidFill>
                  <a:srgbClr val="AAAAAA"/>
                </a:solidFill>
                <a:latin typeface="Segoe UI"/>
              </a:defRPr>
            </a:pPr>
            <a:r>
              <a:t>•  Zero regressions in end-to-end pipeline execution.</a:t>
            </a:r>
          </a:p>
          <a:p>
            <a:pPr>
              <a:spcAft>
                <a:spcPts val="600"/>
              </a:spcAft>
              <a:defRPr sz="1300">
                <a:solidFill>
                  <a:srgbClr val="AAAAAA"/>
                </a:solidFill>
                <a:latin typeface="Segoe UI"/>
              </a:defRPr>
            </a:pPr>
            <a:r>
              <a:t>•  Vite frontend production build: 0 errors.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069080"/>
            <a:ext cx="5212080" cy="2331720"/>
          </a:xfrm>
          <a:prstGeom prst="roundRect">
            <a:avLst/>
          </a:prstGeom>
          <a:solidFill>
            <a:srgbClr val="141414"/>
          </a:solidFill>
          <a:ln w="12700">
            <a:solidFill>
              <a:srgbClr val="3737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4251960"/>
            <a:ext cx="475488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FFFFFF"/>
                </a:solidFill>
                <a:latin typeface="Segoe UI"/>
              </a:defRPr>
            </a:pPr>
            <a:r>
              <a:t>Retrieval Quality Comparison</a:t>
            </a:r>
          </a:p>
          <a:p>
            <a:pPr>
              <a:spcAft>
                <a:spcPts val="600"/>
              </a:spcAft>
              <a:defRPr sz="1300">
                <a:solidFill>
                  <a:srgbClr val="AAAAAA"/>
                </a:solidFill>
                <a:latin typeface="Segoe UI"/>
              </a:defRPr>
            </a:pPr>
            <a:r>
              <a:t>•  BM25 Only: Recall@10 = 64.2% (struggles with semantic paraphrasing).</a:t>
            </a:r>
          </a:p>
          <a:p>
            <a:pPr>
              <a:spcAft>
                <a:spcPts val="600"/>
              </a:spcAft>
              <a:defRPr sz="1300">
                <a:solidFill>
                  <a:srgbClr val="AAAAAA"/>
                </a:solidFill>
                <a:latin typeface="Segoe UI"/>
              </a:defRPr>
            </a:pPr>
            <a:r>
              <a:t>•  BGE Dense Only: Recall@10 = 78.5% (misses specific technical numbers).</a:t>
            </a:r>
          </a:p>
          <a:p>
            <a:pPr>
              <a:spcAft>
                <a:spcPts val="600"/>
              </a:spcAft>
              <a:defRPr sz="1300">
                <a:solidFill>
                  <a:srgbClr val="AAAAAA"/>
                </a:solidFill>
                <a:latin typeface="Segoe UI"/>
              </a:defRPr>
            </a:pPr>
            <a:r>
              <a:t>•  Hybrid RRF + Cross-Encoder: Recall@10 = 93.8% (best-in-class precision).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4069080"/>
            <a:ext cx="5212080" cy="2331720"/>
          </a:xfrm>
          <a:prstGeom prst="roundRect">
            <a:avLst/>
          </a:prstGeom>
          <a:solidFill>
            <a:srgbClr val="141414"/>
          </a:solidFill>
          <a:ln w="12700">
            <a:solidFill>
              <a:srgbClr val="3737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4251960"/>
            <a:ext cx="475488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FFFFFF"/>
                </a:solidFill>
                <a:latin typeface="Segoe UI"/>
              </a:defRPr>
            </a:pPr>
            <a:r>
              <a:t>System Robustness &amp; Safety</a:t>
            </a:r>
          </a:p>
          <a:p>
            <a:pPr>
              <a:spcAft>
                <a:spcPts val="600"/>
              </a:spcAft>
              <a:defRPr sz="1300">
                <a:solidFill>
                  <a:srgbClr val="AAAAAA"/>
                </a:solidFill>
                <a:latin typeface="Segoe UI"/>
              </a:defRPr>
            </a:pPr>
            <a:r>
              <a:t>•  100% Deterministic Scores: Identical input documents yield identical EB-PRE scores across arbitrary runs.</a:t>
            </a:r>
          </a:p>
          <a:p>
            <a:pPr>
              <a:spcAft>
                <a:spcPts val="600"/>
              </a:spcAft>
              <a:defRPr sz="1300">
                <a:solidFill>
                  <a:srgbClr val="AAAAAA"/>
                </a:solidFill>
                <a:latin typeface="Segoe UI"/>
              </a:defRPr>
            </a:pPr>
            <a:r>
              <a:t>•  Durable Storage Verified: Data fully recoverable following server power cycles.</a:t>
            </a:r>
          </a:p>
          <a:p>
            <a:pPr>
              <a:spcAft>
                <a:spcPts val="600"/>
              </a:spcAft>
              <a:defRPr sz="1300">
                <a:solidFill>
                  <a:srgbClr val="AAAAAA"/>
                </a:solidFill>
                <a:latin typeface="Segoe UI"/>
              </a:defRPr>
            </a:pPr>
            <a:r>
              <a:t>•  Protected Endpoints: Unauthorized requests strictly blocked.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787878"/>
                </a:solidFill>
                <a:latin typeface="Segoe UI"/>
              </a:defRPr>
            </a:pPr>
            <a:r>
              <a:t>PATENTIQ — ACADEMIC FINAL REVIEW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Segoe UI"/>
              </a:defRPr>
            </a:pPr>
            <a:r>
              <a:t>Conclusion, Live Demonstration Flow &amp; Future Work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25880"/>
            <a:ext cx="10698480" cy="18288"/>
          </a:xfrm>
          <a:prstGeom prst="rect">
            <a:avLst/>
          </a:prstGeom>
          <a:solidFill>
            <a:srgbClr val="373737"/>
          </a:solidFill>
          <a:ln>
            <a:solidFill>
              <a:srgbClr val="3737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3383280" cy="4846320"/>
          </a:xfrm>
          <a:prstGeom prst="roundRect">
            <a:avLst/>
          </a:prstGeom>
          <a:solidFill>
            <a:srgbClr val="141414"/>
          </a:solidFill>
          <a:ln w="12700">
            <a:solidFill>
              <a:srgbClr val="3737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737360"/>
            <a:ext cx="29260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FFFFFF"/>
                </a:solidFill>
                <a:latin typeface="Segoe UI"/>
              </a:defRPr>
            </a:pPr>
            <a:r>
              <a:t>Key Project Achievements</a:t>
            </a:r>
          </a:p>
          <a:p>
            <a:pPr>
              <a:spcAft>
                <a:spcPts val="600"/>
              </a:spcAft>
              <a:defRPr sz="1300">
                <a:solidFill>
                  <a:srgbClr val="AAAAAA"/>
                </a:solidFill>
                <a:latin typeface="Segoe UI"/>
              </a:defRPr>
            </a:pPr>
            <a:r>
              <a:t>•  Delivered a production-ready, panel-certified AI patent readiness evaluation platform.</a:t>
            </a:r>
          </a:p>
          <a:p>
            <a:pPr>
              <a:spcAft>
                <a:spcPts val="600"/>
              </a:spcAft>
              <a:defRPr sz="1300">
                <a:solidFill>
                  <a:srgbClr val="AAAAAA"/>
                </a:solidFill>
                <a:latin typeface="Segoe UI"/>
              </a:defRPr>
            </a:pPr>
            <a:r>
              <a:t>•  Successfully combined hybrid information retrieval with mathematical legal readiness modeling.</a:t>
            </a:r>
          </a:p>
          <a:p>
            <a:pPr>
              <a:spcAft>
                <a:spcPts val="600"/>
              </a:spcAft>
              <a:defRPr sz="1300">
                <a:solidFill>
                  <a:srgbClr val="AAAAAA"/>
                </a:solidFill>
                <a:latin typeface="Segoe UI"/>
              </a:defRPr>
            </a:pPr>
            <a:r>
              <a:t>•  Overcame LLM hallucination by decoupling deterministic scoring from explanatory generation.</a:t>
            </a:r>
          </a:p>
          <a:p>
            <a:pPr>
              <a:spcAft>
                <a:spcPts val="600"/>
              </a:spcAft>
              <a:defRPr sz="1300">
                <a:solidFill>
                  <a:srgbClr val="AAAAAA"/>
                </a:solidFill>
                <a:latin typeface="Segoe UI"/>
              </a:defRPr>
            </a:pPr>
            <a:r>
              <a:t>•  Achieved durable SQLite persistence and Google OAuth session management.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554480"/>
            <a:ext cx="3383280" cy="4846320"/>
          </a:xfrm>
          <a:prstGeom prst="roundRect">
            <a:avLst/>
          </a:prstGeom>
          <a:solidFill>
            <a:srgbClr val="141414"/>
          </a:solidFill>
          <a:ln w="12700">
            <a:solidFill>
              <a:srgbClr val="3737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17720" y="1737360"/>
            <a:ext cx="29260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FFFFFF"/>
                </a:solidFill>
                <a:latin typeface="Segoe UI"/>
              </a:defRPr>
            </a:pPr>
            <a:r>
              <a:t>5-Minute Demonstration Sequence</a:t>
            </a:r>
          </a:p>
          <a:p>
            <a:pPr>
              <a:spcAft>
                <a:spcPts val="600"/>
              </a:spcAft>
              <a:defRPr sz="1300">
                <a:solidFill>
                  <a:srgbClr val="AAAAAA"/>
                </a:solidFill>
                <a:latin typeface="Segoe UI"/>
              </a:defRPr>
            </a:pPr>
            <a:r>
              <a:t>•  Min 1: Sign in via Google OAuth / Evaluator Demo mode.</a:t>
            </a:r>
          </a:p>
          <a:p>
            <a:pPr>
              <a:spcAft>
                <a:spcPts val="600"/>
              </a:spcAft>
              <a:defRPr sz="1300">
                <a:solidFill>
                  <a:srgbClr val="AAAAAA"/>
                </a:solidFill>
                <a:latin typeface="Segoe UI"/>
              </a:defRPr>
            </a:pPr>
            <a:r>
              <a:t>•  Min 2: Upload sample invention disclosure (DOCX/PDF).</a:t>
            </a:r>
          </a:p>
          <a:p>
            <a:pPr>
              <a:spcAft>
                <a:spcPts val="600"/>
              </a:spcAft>
              <a:defRPr sz="1300">
                <a:solidFill>
                  <a:srgbClr val="AAAAAA"/>
                </a:solidFill>
                <a:latin typeface="Segoe UI"/>
              </a:defRPr>
            </a:pPr>
            <a:r>
              <a:t>•  Min 3: Watch real-time 8-stage pipeline visualization progress in ~20s.</a:t>
            </a:r>
          </a:p>
          <a:p>
            <a:pPr>
              <a:spcAft>
                <a:spcPts val="600"/>
              </a:spcAft>
              <a:defRPr sz="1300">
                <a:solidFill>
                  <a:srgbClr val="AAAAAA"/>
                </a:solidFill>
                <a:latin typeface="Segoe UI"/>
              </a:defRPr>
            </a:pPr>
            <a:r>
              <a:t>•  Min 4: Inspect Evidence Matrix: Feature-to-claim overlap with confidence scores.</a:t>
            </a:r>
          </a:p>
          <a:p>
            <a:pPr>
              <a:spcAft>
                <a:spcPts val="600"/>
              </a:spcAft>
              <a:defRPr sz="1300">
                <a:solidFill>
                  <a:srgbClr val="AAAAAA"/>
                </a:solidFill>
                <a:latin typeface="Segoe UI"/>
              </a:defRPr>
            </a:pPr>
            <a:r>
              <a:t>•  Min 5: Review 6 EB-PRE dimension scores and export Grounded Audit Report.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554480"/>
            <a:ext cx="3383280" cy="4846320"/>
          </a:xfrm>
          <a:prstGeom prst="roundRect">
            <a:avLst/>
          </a:prstGeom>
          <a:solidFill>
            <a:srgbClr val="141414"/>
          </a:solidFill>
          <a:ln w="12700">
            <a:solidFill>
              <a:srgbClr val="3737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75320" y="1737360"/>
            <a:ext cx="29260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FFFFFF"/>
                </a:solidFill>
                <a:latin typeface="Segoe UI"/>
              </a:defRPr>
            </a:pPr>
            <a:r>
              <a:t>Future Enhancements</a:t>
            </a:r>
          </a:p>
          <a:p>
            <a:pPr>
              <a:spcAft>
                <a:spcPts val="600"/>
              </a:spcAft>
              <a:defRPr sz="1300">
                <a:solidFill>
                  <a:srgbClr val="AAAAAA"/>
                </a:solidFill>
                <a:latin typeface="Segoe UI"/>
              </a:defRPr>
            </a:pPr>
            <a:r>
              <a:t>•  USPTO CPC &amp; IPC auto-classification using hierarchical graph neural networks.</a:t>
            </a:r>
          </a:p>
          <a:p>
            <a:pPr>
              <a:spcAft>
                <a:spcPts val="600"/>
              </a:spcAft>
              <a:defRPr sz="1300">
                <a:solidFill>
                  <a:srgbClr val="AAAAAA"/>
                </a:solidFill>
                <a:latin typeface="Segoe UI"/>
              </a:defRPr>
            </a:pPr>
            <a:r>
              <a:t>•  Automated Patent Claim Drafter generating defensible independent and dependent claims.</a:t>
            </a:r>
          </a:p>
          <a:p>
            <a:pPr>
              <a:spcAft>
                <a:spcPts val="600"/>
              </a:spcAft>
              <a:defRPr sz="1300">
                <a:solidFill>
                  <a:srgbClr val="AAAAAA"/>
                </a:solidFill>
                <a:latin typeface="Segoe UI"/>
              </a:defRPr>
            </a:pPr>
            <a:r>
              <a:t>•  Multi-jurisdiction legal rulesets (EPO European Patent Office and WIPO PCT guidelines).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