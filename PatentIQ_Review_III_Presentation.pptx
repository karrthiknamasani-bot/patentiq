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05840"/>
            <a:ext cx="10725912" cy="36576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259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PatentIQ</a:t>
            </a:r>
          </a:p>
          <a:p>
            <a:pPr>
              <a:spcBef>
                <a:spcPts val="600"/>
              </a:spcBef>
              <a:defRPr sz="2000" b="1">
                <a:solidFill>
                  <a:srgbClr val="22D3EE"/>
                </a:solidFill>
                <a:latin typeface="Segoe UI"/>
              </a:defRPr>
            </a:pPr>
            <a:r>
              <a:t>Evidence-Based AI Patent Readiness Assessment System</a:t>
            </a:r>
          </a:p>
          <a:p>
            <a:pPr>
              <a:spcBef>
                <a:spcPts val="800"/>
              </a:spcBef>
              <a:defRPr sz="1300" b="1">
                <a:solidFill>
                  <a:srgbClr val="F1F5F9"/>
                </a:solidFill>
                <a:latin typeface="Segoe UI"/>
              </a:defRPr>
            </a:pPr>
            <a:r>
              <a:t>Document  →  Features  →  Prior Art  →  Evidence  →  Assessment  → 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017520"/>
            <a:ext cx="10725912" cy="1143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154680"/>
            <a:ext cx="1036015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2D3EE"/>
                </a:solidFill>
                <a:latin typeface="Segoe UI"/>
              </a:defRPr>
            </a:pPr>
            <a:r>
              <a:t>CORE PROJECT ARCHITECTURE &amp;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F1F5F9"/>
                </a:solidFill>
                <a:latin typeface="Segoe UI"/>
              </a:defRPr>
            </a:pPr>
            <a:r>
              <a:t>"PatentIQ connects invention features with prior-art evidence and uses those evidence relationships to produce an explainable early-stage patent-readiness assessment."</a:t>
            </a:r>
          </a:p>
          <a:p>
            <a:pPr>
              <a:spcAft>
                <a:spcPts val="300"/>
              </a:spcAft>
              <a:defRPr sz="1100">
                <a:solidFill>
                  <a:srgbClr val="F1F5F9"/>
                </a:solidFill>
                <a:latin typeface="Segoe UI"/>
              </a:defRPr>
            </a:pPr>
            <a:r>
              <a:t>"Algorithms and structured scoring compute the assessment; Gemini explains the assessment."</a:t>
            </a:r>
          </a:p>
          <a:p>
            <a:pPr>
              <a:spcAft>
                <a:spcPts val="300"/>
              </a:spcAft>
              <a:defRPr sz="1100">
                <a:solidFill>
                  <a:srgbClr val="F1F5F9"/>
                </a:solidFill>
                <a:latin typeface="Segoe UI"/>
              </a:defRPr>
            </a:pPr>
            <a:r>
              <a:t>VERIFIED REGRESSION BASELINE:  171/171 Backend Tests Passed  |  Frontend Production Build: PASS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5212080" cy="1920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5262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PROJECT TEAM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00600"/>
            <a:ext cx="48463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1. N. Gagan Karthik  —  23BDS1100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2. K. Bharath       —  23BDS1033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3. P. Srujan        —  23BCE1111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School of Computer Science and Engineering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B.Tech Project Review III (BCSE497J) | 16 September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389120"/>
            <a:ext cx="5239512" cy="1920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526280"/>
            <a:ext cx="487375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A855F7"/>
                </a:solidFill>
                <a:latin typeface="Segoe UI"/>
              </a:defRPr>
            </a:pPr>
            <a:r>
              <a:t>REVIEW III EVALUATION RUBRIC (20 MARKS)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800600"/>
            <a:ext cx="48463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Implementation (5M): 11 executable modules + end-to-end pipeline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Technical Accuracy (5M): Deterministic EB-PRE + grounded explanations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Results Obtained (5M): 171/171 tests, 78 chunks, empirical latencies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Presentation &amp; Clarity (5M): Structured justification &amp; live auditability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Scope: Early-stage patent-readiness assessment for decision support.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2D3EE"/>
                </a:solidFill>
                <a:latin typeface="Segoe UI"/>
              </a:defRPr>
            </a:pPr>
            <a:r>
              <a:t>BACKGROUND &amp;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Introduction &amp; Motivation: The Early-Stage Patent Dilemma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An early-stage, evidence-grounded workflow for assessing the patent-readiness of an invention from a written technical description.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542032" cy="34747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1762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Segoe UI"/>
              </a:defRPr>
            </a:pPr>
            <a:r>
              <a:t>Vast &amp; Opaque Literature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2267712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Global patent corpora exceed 100M+ dense documents.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Legalistic, obfuscated language deliberately masks core technical concepts.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High financial barrier ($5k–$15k) for professional patent landscape searches.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Early-stage inventors lack objective pre-filing technical feedback.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508760"/>
            <a:ext cx="2542032" cy="34747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645920"/>
            <a:ext cx="21762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Segoe UI"/>
              </a:defRPr>
            </a:pPr>
            <a:r>
              <a:t>Keyword Search Limits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1965960"/>
            <a:ext cx="2267712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Lexical matching (BM25 alone) misses semantic synonyms and conceptual equivalence.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Terminology mismatch (e.g. 'adaptive impedance modulation' vs 'frequency tuning').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Returns thousands of unranked or irrelevant prior-art publications.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Zero structural decomposition into technical features.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508760"/>
            <a:ext cx="2542032" cy="34747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645920"/>
            <a:ext cx="21762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Segoe UI"/>
              </a:defRPr>
            </a:pPr>
            <a:r>
              <a:t>Generic RAG / Embeddings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1965960"/>
            <a:ext cx="2267712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Dense semantic similarity computes whole-document similarity.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Document-level similarity ≠ patent novelty: an invention can share 90% domain context but be 100% novel in mechanism.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Lacks granular feature-to-claim alignment.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Provides no structured readiness decision.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508760"/>
            <a:ext cx="2542032" cy="34747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89136" y="1645920"/>
            <a:ext cx="21762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Segoe UI"/>
              </a:defRPr>
            </a:pPr>
            <a:r>
              <a:t>Ungrounded LLMs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6" y="1965960"/>
            <a:ext cx="2267712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Generic LLMs hallucinate patent citations, claim numbers, and novelty conclusions.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Make unverified assertions without mathematical justification.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Unauditable reasoning chains with zero reproducibility.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Fails engineering due diligence.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66360"/>
            <a:ext cx="10725912" cy="11887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03520"/>
            <a:ext cx="1036015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2D3EE"/>
                </a:solidFill>
                <a:latin typeface="Segoe UI"/>
              </a:defRPr>
            </a:pPr>
            <a:r>
              <a:t>THE PATENTIQ PARADIGM SHIFT: NOT A GUARANTEE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77840"/>
            <a:ext cx="1036015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1F5F9"/>
                </a:solidFill>
                <a:latin typeface="Segoe UI"/>
              </a:defRPr>
            </a:pPr>
            <a:r>
              <a:t>PatentIQ is NOT a legal patentability finding and NOT a guarantee of patent grant.</a:t>
            </a:r>
          </a:p>
          <a:p>
            <a:pPr>
              <a:spcAft>
                <a:spcPts val="400"/>
              </a:spcAft>
              <a:defRPr sz="1100">
                <a:solidFill>
                  <a:srgbClr val="F1F5F9"/>
                </a:solidFill>
                <a:latin typeface="Segoe UI"/>
              </a:defRPr>
            </a:pPr>
            <a:r>
              <a:t>It provides early-stage patent-readiness assessment for decision support by decomposing inventions into technical features, mapping them to traceable prior-art passages, computing readiness deterministically, and using Gemini exclusively to explain the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2D3EE"/>
                </a:solidFill>
                <a:latin typeface="Segoe UI"/>
              </a:defRPr>
            </a:pPr>
            <a:r>
              <a:t>RESEARCH GAP &amp;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Problem Statement: Four Critical Patent Assessment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PatentIQ connects technical features with evidence before producing the assessment.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542032" cy="2194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1762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7171"/>
                </a:solidFill>
                <a:latin typeface="Segoe UI"/>
              </a:defRPr>
            </a:pPr>
            <a:r>
              <a:t>1. Dense &amp; Technical 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267712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Patent specifications span 30+ pages of dense claim hierarchies.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Critical technical limitations are buried inside boilerplate patent jargon.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Manual extraction is time-prohibitive and error-prone.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508760"/>
            <a:ext cx="2542032" cy="2194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645920"/>
            <a:ext cx="21762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7171"/>
                </a:solidFill>
                <a:latin typeface="Segoe UI"/>
              </a:defRPr>
            </a:pPr>
            <a:r>
              <a:t>2. Keyword Search Misses Similarity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011680"/>
            <a:ext cx="2267712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Surface keyword queries fail when identical concepts use disparate vocabulary.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Missing prior art leads to costly rejections under 35 U.S.C. §§ 102/103.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High false negatives in prior-art discovery.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2542032" cy="2194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21762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7171"/>
                </a:solidFill>
                <a:latin typeface="Segoe UI"/>
              </a:defRPr>
            </a:pPr>
            <a:r>
              <a:t>3. Similarity Score ≠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89120"/>
            <a:ext cx="2267712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A cosine similarity score (e.g. '0.82') is not an actionable technical explanation.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Inventors cannot tell which specific features overlap and which are novel.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Black-box scores provide zero guidance for claim drafting.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3886200"/>
            <a:ext cx="2542032" cy="2194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4023360"/>
            <a:ext cx="21762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7171"/>
                </a:solidFill>
                <a:latin typeface="Segoe UI"/>
              </a:defRPr>
            </a:pPr>
            <a:r>
              <a:t>4. Assessments Must Be Traceable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4389120"/>
            <a:ext cx="2267712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Any readiness score must be backed by verifiable document citations.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Patent attorneys require exact claim numbers, chunk indices, and excerpts.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Generic LLM outputs lack auditable evidentiary grounding.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508760"/>
            <a:ext cx="5239512" cy="4572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645920"/>
            <a:ext cx="487375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THE PATENTIQ SOLUTION: EVIDENCE-FIRST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01168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1. Deconstructs Technical Documents: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   Extracts normalized technical features across 11 functional categories with character-level provenance spans.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2. Hybrid Prior-Art Retrieval + RRF + Cross-Encoder: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   Combines BM25 lexical precision with BGE dense semantic vectors via Qdrant; fused via RRF (k=60); reranked with cross-attention.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3. Feature-to-Evidence Mapping: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   Maps each technical feature to specific prior-art passages using 5-level evidence relationships.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4. Evidence Matrix &amp; Deterministic EB-PRE: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   Constructs an auditable matrix and evaluates readiness across 6 independent dimensions with zero LLM scoring drift.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5. Grounded Gemini Reporting: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   Gemini explains the structured findings without modifying scores or inventing citations.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2D3EE"/>
                </a:solidFill>
                <a:latin typeface="Segoe UI"/>
              </a:defRPr>
            </a:pPr>
            <a:r>
              <a:t>SYSTEM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Implemented Modules: 11 Core Engineering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Every module is implemented, integrated, and verified with 171 automated regression tests.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8006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11 VERIFIED MAJOR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01  Document Processing — PDF/DOCX/TXT parsers, cleaning, section detection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02  Patent Corpus — 15 public US patents, 78 traceable chunks, metadata index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03  Hybrid Retrieval — BM25 (k1=1.5, b=0.75) + BGE/Qdrant vector search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04  RRF Fusion — Reciprocal Rank Fusion (k=60, candidate depth=20)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05  BGE Reranking — BAAI/bge-reranker-base cross-encoder, batch size 8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06  Feature Extraction — 11 structured technical feature categories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07  Feature → Evidence Mapping — 0.4 lexical + 0.6 semantic similarity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08  Evidence Matrix — Traceable feature × prior-art correspondence cells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09  EB-PRE Engine — Deterministic 6-dimension readiness scoring (0–100%)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10  Grounded Reporting — Gemini 3.1 Pro Preview + deterministic fallback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11  Supabase Persistence — Relational schema, repository, local demo store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39512" cy="48006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7375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2D3EE"/>
                </a:solidFill>
                <a:latin typeface="Segoe UI"/>
              </a:defRPr>
            </a:pPr>
            <a:r>
              <a:t>11 STRUCTURED TECHNICAL FEATURE CATEGORIES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Feature Taxonomy (Step 7 Canonical Vocabulary):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Problem              — Specific engineering hurdle addressed by invention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Component            — Physical hardware or software module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Function             — Operational action performed by component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Relationship         — Structural or dataflow coupling between elements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Input                — Data, signal, or physical entity received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Output               — Result, transformed state, or output signal produced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Process              — Algorithmic workflow or method sequence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Constraint           — Bounded parameter, latency, or physical limitation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Mechanism            — Governing physical, mathematical, or logic principle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Technical Effect     — Concrete measurable advantage achieved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Claimed Aspect       — Explicit novel boundary asserted by inventor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Traceability: Every extracted feature preserves source chunk index, section, claim number, and character start/end offsets.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2D3EE"/>
                </a:solidFill>
                <a:latin typeface="Segoe UI"/>
              </a:defRPr>
            </a:pPr>
            <a:r>
              <a:t>ENGINEERING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Technology Stack: Verified Production &amp; ML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Carefully selected, strictly decoupled technologies powering the API, retrieval, and assessment layers.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8006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2D3EE"/>
                </a:solidFill>
                <a:latin typeface="Segoe UI"/>
              </a:defRPr>
            </a:pPr>
            <a:r>
              <a:t>CORE PROCESSING &amp; RETRIEVAL TECHNOLOGIES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Python / FastAPI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→ High-performance ASGI API, orchestration pipeline, Pydantic v2 schemas.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PyMuPDF / python-docx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→ Robust multi-format document extraction, cleaning, and heading detection.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BM25 (rank-bm25)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→ Exact sparse lexical retrieval (k1=1.5, b=0.75) for specialized terminology.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BAAI/bge-base-en-v1.5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→ 768-D dense semantic embeddings with L2 normalization.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Qdrant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→ Dedicated vector database; cosine distance; isolated collection.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Reciprocal Rank Fusion (RRF)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→ Scale-invariant rank fusion (k=60) combining sparse and dense candidate pools.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39512" cy="48006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7375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A855F7"/>
                </a:solidFill>
                <a:latin typeface="Segoe UI"/>
              </a:defRPr>
            </a:pPr>
            <a:r>
              <a:t>ASSESSMENT, PERSISTENCE &amp; EXPLANATION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BAAI/bge-reranker-base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→ Deep cross-encoder candidate reranking with joint token-level attention.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Supabase Auth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→ Multi-tenant authentication via cryptographically verified Bearer JWTs.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Supabase PostgreSQL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→ Structured application persistence: projects, chunks, features, evidence, analyses.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EB-PRE (Evidence-Based Patent Readiness Engine)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→ Deterministic mathematical 6-dimension scoring engine (0–100%).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Gemini 3.1 Pro Preview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→ Grounded explanation layer; translates structured evidence into 10-section report.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ARCHITECTURAL BOUNDARY: Qdrant is the dedicated vector database; Supabase manages relational persistence.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2D3EE"/>
                </a:solidFill>
                <a:latin typeface="Segoe UI"/>
              </a:defRPr>
            </a:pPr>
            <a:r>
              <a:t>COMPLETE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Full System Architecture: Multi-Layer Integrated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Application Layer, AI/ML Pipeline, Relational Persistence, and Decoupled Vector Retrieval.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29000" cy="2286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2D3EE"/>
                </a:solidFill>
                <a:latin typeface="Segoe UI"/>
              </a:defRPr>
            </a:pPr>
            <a:r>
              <a:t>1. APPLICATION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30632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User Interface: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  React 19 + Vite (Port 5173)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  Tailwind CSS Dark Theme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Authentication: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  Supabase Auth / JWT (Port 8000)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  Developer Demo Mode Fallback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API Gateway: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  FastAPI (Port 8000, /api)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  Pipeline Orchestrator (/api/pipeline/analyze)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3429000" cy="23774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2. VECTOR &amp; CORPUS SIDE-BRANCH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30632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Public US Patent Development Corpus: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  15 Verified US Patents | 78 Chunks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Dual-Channel Indexing: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  • BM25 Lexical Index (k1=1.5, b=0.75)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  • BGE Embeddings (768-D float32)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Vector Database Storage: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  Qdrant Vector DB (patent_prior_art)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  Cosine Similarity Search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  Dedicated vector retrieval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08760"/>
            <a:ext cx="7086600" cy="2286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645920"/>
            <a:ext cx="6720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3. AI / ML PROCESSING PIPELINE (11 STAGES)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65960"/>
            <a:ext cx="67208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F1F5F9"/>
                </a:solidFill>
                <a:latin typeface="Segoe UI"/>
              </a:defRPr>
            </a:pPr>
            <a:r>
              <a:t>Document Validation  →  Parsing (PDF/DOCX/TXT)  →  Cleaning  →  Section Detection  →  Patent Chunking</a:t>
            </a:r>
          </a:p>
          <a:p>
            <a:pPr>
              <a:spcAft>
                <a:spcPts val="200"/>
              </a:spcAft>
              <a:defRPr sz="950">
                <a:solidFill>
                  <a:srgbClr val="F1F5F9"/>
                </a:solidFill>
                <a:latin typeface="Segoe UI"/>
              </a:defRPr>
            </a:pPr>
            <a:r>
              <a:t>                ↓</a:t>
            </a:r>
          </a:p>
          <a:p>
            <a:pPr>
              <a:spcAft>
                <a:spcPts val="200"/>
              </a:spcAft>
              <a:defRPr sz="950">
                <a:solidFill>
                  <a:srgbClr val="F1F5F9"/>
                </a:solidFill>
                <a:latin typeface="Segoe UI"/>
              </a:defRPr>
            </a:pPr>
            <a:r>
              <a:t>Technical Feature Extraction (11 Categories, Normalization, Character-Level Provenance Spans)</a:t>
            </a:r>
          </a:p>
          <a:p>
            <a:pPr>
              <a:spcAft>
                <a:spcPts val="200"/>
              </a:spcAft>
              <a:defRPr sz="950">
                <a:solidFill>
                  <a:srgbClr val="F1F5F9"/>
                </a:solidFill>
                <a:latin typeface="Segoe UI"/>
              </a:defRPr>
            </a:pPr>
            <a:r>
              <a:t>                ↓</a:t>
            </a:r>
          </a:p>
          <a:p>
            <a:pPr>
              <a:spcAft>
                <a:spcPts val="200"/>
              </a:spcAft>
              <a:defRPr sz="950">
                <a:solidFill>
                  <a:srgbClr val="F1F5F9"/>
                </a:solidFill>
                <a:latin typeface="Segoe UI"/>
              </a:defRPr>
            </a:pPr>
            <a:r>
              <a:t>Hybrid Prior-Art Retrieval  →  RRF Fusion (k=60)  →  BGE Cross-Encoder Reranking  →  Evidence Selection</a:t>
            </a:r>
          </a:p>
          <a:p>
            <a:pPr>
              <a:spcAft>
                <a:spcPts val="200"/>
              </a:spcAft>
              <a:defRPr sz="950">
                <a:solidFill>
                  <a:srgbClr val="F1F5F9"/>
                </a:solidFill>
                <a:latin typeface="Segoe UI"/>
              </a:defRPr>
            </a:pPr>
            <a:r>
              <a:t>                ↓</a:t>
            </a:r>
          </a:p>
          <a:p>
            <a:pPr>
              <a:spcAft>
                <a:spcPts val="200"/>
              </a:spcAft>
              <a:defRPr sz="950">
                <a:solidFill>
                  <a:srgbClr val="F1F5F9"/>
                </a:solidFill>
                <a:latin typeface="Segoe UI"/>
              </a:defRPr>
            </a:pPr>
            <a:r>
              <a:t>Feature → Evidence Mapping  →  Evidence Matrix  →  EB-PRE Scoring  →  Confidence &amp; Uncertainty</a:t>
            </a:r>
          </a:p>
          <a:p>
            <a:pPr>
              <a:spcAft>
                <a:spcPts val="200"/>
              </a:spcAft>
              <a:defRPr sz="950">
                <a:solidFill>
                  <a:srgbClr val="F1F5F9"/>
                </a:solidFill>
                <a:latin typeface="Segoe UI"/>
              </a:defRPr>
            </a:pPr>
            <a:r>
              <a:t>                ↓</a:t>
            </a:r>
          </a:p>
          <a:p>
            <a:pPr>
              <a:spcAft>
                <a:spcPts val="200"/>
              </a:spcAft>
              <a:defRPr sz="950">
                <a:solidFill>
                  <a:srgbClr val="F1F5F9"/>
                </a:solidFill>
                <a:latin typeface="Segoe UI"/>
              </a:defRPr>
            </a:pPr>
            <a:r>
              <a:t>Gemini 3.1 Pro Preview Grounded Explanation  →  10-Section Formal Assessment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3931920"/>
            <a:ext cx="7086600" cy="23774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4069080"/>
            <a:ext cx="6720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A855F7"/>
                </a:solidFill>
                <a:latin typeface="Segoe UI"/>
              </a:defRPr>
            </a:pPr>
            <a:r>
              <a:t>4. PERSISTENCE &amp; ARCHITECTURAL DEMARCATION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4389120"/>
            <a:ext cx="67208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Relational Application Persistence — Supabase PostgreSQL: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  • projects (workspaces)              • document_chunks (parsed disclosure passages)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  • patent_documents &amp; chunks (corpus) • features (11-category technical features)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  • evidence_items (mapped citations)  • analyses (EB-PRE dimension scores &amp; flags)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  • reports (structured 10-section reports &amp; markdown)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CORE ARCHITECTURAL DEMARCATION: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  • Qdrant = Vector Search (Embeddings)      • Supabase = Auth + Relational Persistence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  • EB-PRE = Deterministic Scoring Engine    • Gemini = Grounded Natural Language Explainer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2D3EE"/>
                </a:solidFill>
                <a:latin typeface="Segoe UI"/>
              </a:defRPr>
            </a:pPr>
            <a:r>
              <a:t>RETRIEVAL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Hybrid Prior-Art Retrieval: Dual-Channel Search &amp; RRF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Combining exact lexical matching and dense semantic vectors with Reciprocal Rank Fusion.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29000" cy="48006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2D3EE"/>
                </a:solidFill>
                <a:latin typeface="Segoe UI"/>
              </a:defRPr>
            </a:pPr>
            <a:r>
              <a:t>SPARSE LEXICAL (BM25)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31546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Algorithm &amp; Parameters: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Implementation: rank-bm25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Term Saturation: k1 = 1.5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Length Normalization: b = 0.75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Corpus: 78 canonical patent chunks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Role in Prior-Art Search: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Matches exact technical terms ('5.8 GHz', 'ablation catheter', 'transmon qubit').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High precision for specialized patent jargon.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Execution latency: ~0.8 ms.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Limitation if Used Alone: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Fails under vocabulary mismatch and deliberate synonym obfuscation in patent claims.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429000" cy="48006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DENSE SEMANTIC (BGE + QDRANT)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011680"/>
            <a:ext cx="31546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Model &amp; Storage Specifications: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Model: BAAI/bge-base-en-v1.5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Embedding Dimension: 768 float32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Normalization: Strict L2 normalization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Distance Metric: Cosine Similarity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Storage: Qdrant Vector Database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Role in Prior-Art Search: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Captures conceptual equivalence and functional synonymy across disparate domains.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Overcomes vocabulary mismatch.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Metadata Filtering: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Pre-filtering on section (claims, abstract), publication date, and CPC/IPC classes.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08760"/>
            <a:ext cx="3429000" cy="48006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4592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A855F7"/>
                </a:solidFill>
                <a:latin typeface="Segoe UI"/>
              </a:defRPr>
            </a:pPr>
            <a:r>
              <a:t>RRF FUSION &amp; RERANKING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011680"/>
            <a:ext cx="31546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Reciprocal Rank Fusion (RRF):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  RRF_score(d) = Σ [ 1 / (60 + rank_m(d)) ]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Constant k = 60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Candidate Depth = 20 per channel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Merges BM25 and Cosine ranks without scale distortion.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Cross-Encoder Reranking: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Model: BAAI/bge-reranker-base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Full cross-attention over (Query, Passage) pairs.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Batch size = 8; reranks top 20 candidates.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Selects top verified prior-art evidence passages.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2D3EE"/>
                </a:solidFill>
                <a:latin typeface="Segoe UI"/>
              </a:defRPr>
            </a:pPr>
            <a:r>
              <a:t>FEATURE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Feature-to-Evidence Mapping: 5-Level Evidence Relationship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Connecting extracted technical features to prior-art passages using balanced lexical and semantic scoring.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8006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2D3EE"/>
                </a:solidFill>
                <a:latin typeface="Segoe UI"/>
              </a:defRPr>
            </a:pPr>
            <a:r>
              <a:t>MATCHING SCORE FORMULATION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Balanced Hybrid Formula: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  Matching Score = (0.4 × Lexical) + (0.6 × Semantic)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Component Metrics: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Lexical Similarity (0.4):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  Token-level overlap and exact phrase correspondence against prior-art claims and descriptions.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Semantic Similarity (0.6):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  Cosine similarity of dense BGE vector representations, capturing functional and conceptual equivalence.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Multi-Signal Confidence Formulation: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  Confidence = f(matching_score, relationship_level,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                 lexical_semantic_agreement, reranker_rank)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Design Rationale: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  Patent language requires semantic understanding (0.6) for broad concepts, but demands lexical verification (0.4) to confirm specific mechanical or algorithmic elements.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39512" cy="48006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7375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A855F7"/>
                </a:solidFill>
                <a:latin typeface="Segoe UI"/>
              </a:defRPr>
            </a:pPr>
            <a:r>
              <a:t>5-LEVEL EVIDENCE RELATIONSHIP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Controlled Vocabulary &amp; Categorical Thresholds:</a:t>
            </a: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1. Direct Match (Score ≥ 0.75)</a:t>
            </a: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   Prior-art evidence closely corresponds to the full technical feature.</a:t>
            </a: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2. Partial Match (0.50 ≤ Score &lt; 0.75)</a:t>
            </a: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   Core aspects of the feature are disclosed; minor sub-elements differ.</a:t>
            </a: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3. Contextual Match (0.30 ≤ Score &lt; 0.50)</a:t>
            </a: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   Provides relevant technological context without disclosing the specific mechanism.</a:t>
            </a: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4. Weak Match (0.15 ≤ Score &lt; 0.30)</a:t>
            </a: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   Incidental keyword overlap; limited technical correspondence.</a:t>
            </a: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5. No Material Match (Score &lt; 0.15)</a:t>
            </a: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   No meaningful technical correspondence in candidate evidence.</a:t>
            </a: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DISCLAIMER: Provides engineering decision support only; does not constitute a legal assessment.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2D3EE"/>
                </a:solidFill>
                <a:latin typeface="Segoe UI"/>
              </a:defRPr>
            </a:pPr>
            <a:r>
              <a:t>EVIDENCE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The Evidence Matrix: Bridge Between Retrieval and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The Evidence Matrix is the bridge between retrieval and assessment.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5912" cy="11887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015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EVIDENCE MATRIX ARCHITECTURAL 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6015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F1F5F9"/>
                </a:solidFill>
                <a:latin typeface="Segoe UI"/>
              </a:defRPr>
            </a:pPr>
            <a:r>
              <a:t>"The Evidence Matrix is the bridge between retrieval and assessment."</a:t>
            </a:r>
          </a:p>
          <a:p>
            <a:pPr>
              <a:spcAft>
                <a:spcPts val="300"/>
              </a:spcAft>
              <a:defRPr sz="1100">
                <a:solidFill>
                  <a:srgbClr val="F1F5F9"/>
                </a:solidFill>
                <a:latin typeface="Segoe UI"/>
              </a:defRPr>
            </a:pPr>
            <a:r>
              <a:t>Every cell in the matrix represents an atomic, verifiable correspondence link: Feature  →  Evidence Relationship  →  Patent Chunk  →  Source.</a:t>
            </a:r>
          </a:p>
          <a:p>
            <a:pPr>
              <a:spcAft>
                <a:spcPts val="300"/>
              </a:spcAft>
              <a:defRPr sz="1100">
                <a:solidFill>
                  <a:srgbClr val="F1F5F9"/>
                </a:solidFill>
                <a:latin typeface="Segoe UI"/>
              </a:defRPr>
            </a:pPr>
            <a:r>
              <a:t>Assessments are never computed from ungrounded text summaries; they are derived directly from this auditable matrix.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3429000" cy="36576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2D3EE"/>
                </a:solidFill>
                <a:latin typeface="Segoe UI"/>
              </a:defRPr>
            </a:pPr>
            <a:r>
              <a:t>1. Feature Traceability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37560"/>
            <a:ext cx="315468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Feature ID (e.g. feat_a1b2c3d4)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Feature Category (Component, Function, Constraint, etc.)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Verbatim Feature Text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Normalized Text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Document Source Provenance (Chunk index, Section, Claim #, Page #)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Feature Extraction Confidence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834640"/>
            <a:ext cx="3429000" cy="36576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97180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2. Evidence Correspondence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337560"/>
            <a:ext cx="315468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5-Level Evidence Relationship (Direct, Partial, Contextual, Weak, No Material Match)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Combined Matching Score (0.4 lex + 0.6 sem)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Mapping Confidence Score [0.0, 1.0]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Reranker Alignment &amp; Score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Retrieval Rank &amp; Method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834640"/>
            <a:ext cx="3429000" cy="36576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97180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A855F7"/>
                </a:solidFill>
                <a:latin typeface="Segoe UI"/>
              </a:defRPr>
            </a:pPr>
            <a:r>
              <a:t>3. Patent Citation Provenance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3337560"/>
            <a:ext cx="315468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Patent Number (e.g. US-10492811-B2)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Publication Date &amp; Jurisdiction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Patent Chunk Index &amp; Section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Specific Claim Number (if from claims)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Verbatim Prior-Art Passage Excerpt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CPC / IPC Classification Codes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2D3EE"/>
                </a:solidFill>
                <a:latin typeface="Segoe UI"/>
              </a:defRPr>
            </a:pPr>
            <a:r>
              <a:t>DETERMINISTIC SCORING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Evidence-Based Patent Readiness Engine (EB-PRE)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Deterministic assessment from structured evidence.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5912" cy="10972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015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DETERMINISTIC READINESS FORMULATION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6015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F1F5F9"/>
                </a:solidFill>
                <a:latin typeface="Segoe UI"/>
              </a:defRPr>
            </a:pPr>
            <a:r>
              <a:t>Readiness Score = Σ (w_i × S_i) = 0.30×Novelty + 0.20×Overlap + 0.20×Diff + 0.15×Innovation + 0.10×Docs + 0.05×Commercial</a:t>
            </a:r>
          </a:p>
          <a:p>
            <a:pPr>
              <a:spcAft>
                <a:spcPts val="200"/>
              </a:spcAft>
              <a:defRPr sz="1050">
                <a:solidFill>
                  <a:srgbClr val="F1F5F9"/>
                </a:solidFill>
                <a:latin typeface="Segoe UI"/>
              </a:defRPr>
            </a:pPr>
            <a:r>
              <a:t>where w_i represents the dimension weight (sum = 100%), and S_i represents the normalized evidence score [0.0, 1.0].</a:t>
            </a:r>
          </a:p>
          <a:p>
            <a:pPr>
              <a:spcAft>
                <a:spcPts val="200"/>
              </a:spcAft>
              <a:defRPr sz="1050">
                <a:solidFill>
                  <a:srgbClr val="F1F5F9"/>
                </a:solidFill>
                <a:latin typeface="Segoe UI"/>
              </a:defRPr>
            </a:pPr>
            <a:r>
              <a:t>CORE TECHNICAL PRINCIPLE: EB-PRE does not depend on the LLM for scoring. Scores are 100% deterministic and mathematically reproducible.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3429000" cy="16459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2D3EE"/>
                </a:solidFill>
                <a:latin typeface="Segoe UI"/>
              </a:defRPr>
            </a:pPr>
            <a:r>
              <a:t>Novelty — 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154680"/>
            <a:ext cx="3209544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Measures inverse direct prior-art anticipation.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Strongly penalizes Direct Matches in corpus.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High score = low matching density in prior art.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743200"/>
            <a:ext cx="3429000" cy="16459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88036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2D3EE"/>
                </a:solidFill>
                <a:latin typeface="Segoe UI"/>
              </a:defRPr>
            </a:pPr>
            <a:r>
              <a:t>Prior-Art Overlap — 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3154680"/>
            <a:ext cx="3209544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Evaluates density and severity of retrieved claims.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Direct = 4 pts, Partial = 3 pts, Contextual = 2 pts.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Exposes crowded prior-art technology sectors.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743200"/>
            <a:ext cx="3429000" cy="16459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88036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2D3EE"/>
                </a:solidFill>
                <a:latin typeface="Segoe UI"/>
              </a:defRPr>
            </a:pPr>
            <a:r>
              <a:t>Technical Differentiation — 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3154680"/>
            <a:ext cx="3209544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Ratio of novel feature elements to known prior-art.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Quantifies technical divergence from citations.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Identifies unique mechanical/functional aspects.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26280"/>
            <a:ext cx="3429000" cy="16459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Innovation Characteristics — 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937760"/>
            <a:ext cx="3209544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Structural diversity across feature categories.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Rewards multi-element system inventions with components, functions, constraints, and mechanisms.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526280"/>
            <a:ext cx="3429000" cy="16459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66344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Documentation Quality — 10%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4937760"/>
            <a:ext cx="3209544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Provenance completeness and traceable spans.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Evaluates clarity, specificity, and parameter boundaries in disclosure text.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526280"/>
            <a:ext cx="3429000" cy="16459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466344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Commercial Potential — 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4937760"/>
            <a:ext cx="3209544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Presence of technical problem-solution framing, concrete outputs, and practical operational constraints.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30936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READINESS CATEGORIES:  [0.0 - 0.39] LOW (High Prior-Art Overlap)  |  [0.40 - 0.69] MODERATE (Partial Differentiation)  |  [0.70 - 1.00] HIGH (Strong Differentiation)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2D3EE"/>
                </a:solidFill>
                <a:latin typeface="Segoe UI"/>
              </a:defRPr>
            </a:pPr>
            <a:r>
              <a:t>CONFIDENCE &amp; UNCERTAINTY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Assessment Confidence &amp; Uncertainty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Decoupling readiness indications from statistical confidence and surfacing explicit risk flags.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8006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2D3EE"/>
                </a:solidFill>
                <a:latin typeface="Segoe UI"/>
              </a:defRPr>
            </a:pPr>
            <a:r>
              <a:t>DECOUPLING READINESS FROM CONFIDENCE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READINESS — "What does the available evidence indicate?"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Computed by EB-PRE across 6 dimensions.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Reflects the degree of technical divergence from retrieved prior art.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CONFIDENCE — "How reliable is that indication?"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Evaluates evidence adequacy, coverage breadth, and mapping stability.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Factors: coverage ratio (35%), mapping confidence (30%), provenance ratio (20%), documentation breadth (15%).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CRITICAL SAFETY PRINCIPLE: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High readiness with low confidence indicates an under-searched corpus, NOT proof of novelty.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"No retrieved prior art does NOT prove novelty."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The system highlights uncertainty rather than concealing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39512" cy="48006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7375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Segoe UI"/>
              </a:defRPr>
            </a:pPr>
            <a:r>
              <a:t>SIX CANONICAL UNCERTAINTY FLAGS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1. insufficient_prior_art_coverage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   Triggered when &lt; 50% of technical features have mapped prior art in corpus.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2. incomplete_feature_provenance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   Triggered when &lt; 60% of features possess verified document span offsets.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3. limited_documentation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   Triggered when &lt; 3 distinct technical features are extractable from text.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4. weak_evidence_support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   Triggered when average mapping confidence across citations is &lt; 0.35.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5. commercial_information_missing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   Triggered when utility and practical constraint scores fall below 0.30.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6. direct_prior_art_overlap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   Triggered when one or more features directly match prior-art claims.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2D3EE"/>
                </a:solidFill>
                <a:latin typeface="Segoe UI"/>
              </a:defRPr>
            </a:pPr>
            <a:r>
              <a:t>EXPLANATION &amp;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Grounded Gemini Explanation &amp; Structured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Decoupled explanatory generative AI bounded by strict grounding and deterministic fallback.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8006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STRICTLY DECOUPLED EXPLANATION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Structured Input Context: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  Evidence Matrix + EB-PRE Scores + Confidence + Uncertainty + Provenance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                    ↓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  Gemini 3.1 Pro Preview (REST API / Fenced Prompt)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                    ↓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  Grounded Explanation &amp; 10-Section Report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CORE ARCHITECTURAL RULE: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"Gemini explains the structured evidence; it does not calculate or modify the readiness score."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Summary: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Algorithms calculate.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Evidence supports.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Gemini explains.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39512" cy="48006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7375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2D3EE"/>
                </a:solidFill>
                <a:latin typeface="Segoe UI"/>
              </a:defRPr>
            </a:pPr>
            <a:r>
              <a:t>GROUNDING VALIDATION &amp; DETERMINISTIC FALLBACK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Prompt Injection &amp; Hallucination Defense: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System prompt treats all disclosure text as untrusted data.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Post-generation validator verifies cited evidence IDs and patent numbers.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Zero score drift: strictly enforces that reported scores equal EB-PRE scores.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Deterministic Fallback Mechanism: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If Gemini API is unavailable or free-tier quota is exhausted (HTTP 429):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  "If Gemini is unavailable or quota is exhausted, the deterministic fallback report preserves the EB-PRE results."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Generates the full 10-section report using rule-based templates.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100% service uptime with zero unhandled exceptions.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Mandatory Legal Disclaimer: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Included in all reports: assessment is an engineering decision-support tool, NOT legal advice under 35 U.S.C. §§ 101/102/103/112.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2D3EE"/>
                </a:solidFill>
                <a:latin typeface="Segoe UI"/>
              </a:defRPr>
            </a:pPr>
            <a:r>
              <a:t>EMPIRICAL RESULTS (5 MARKS)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Empirical Results: Benchmarks, Latencies &amp; Verification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Directly addressing the results criterion using verified figures from repository implementation reports.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64592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4630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34D399"/>
                </a:solidFill>
                <a:latin typeface="Segoe UI"/>
              </a:defRPr>
            </a:pPr>
            <a:r>
              <a:t>171 / 171</a:t>
            </a:r>
          </a:p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BACKEND TESTS</a:t>
            </a:r>
          </a:p>
          <a:p>
            <a:pPr algn="ctr">
              <a:defRPr sz="850">
                <a:solidFill>
                  <a:srgbClr val="94A3B8"/>
                </a:solidFill>
                <a:latin typeface="Segoe UI"/>
              </a:defRPr>
            </a:pPr>
            <a:r>
              <a:t>100% Suite Pass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42032" y="1508760"/>
            <a:ext cx="164592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33472" y="1600200"/>
            <a:ext cx="14630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34D399"/>
                </a:solidFill>
                <a:latin typeface="Segoe UI"/>
              </a:defRPr>
            </a:pPr>
            <a:r>
              <a:t>PASS</a:t>
            </a:r>
          </a:p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Segoe UI"/>
              </a:defRPr>
            </a:pPr>
            <a:r>
              <a:t>FRONTEND BUILD</a:t>
            </a:r>
          </a:p>
          <a:p>
            <a:pPr algn="ctr">
              <a:defRPr sz="850">
                <a:solidFill>
                  <a:srgbClr val="94A3B8"/>
                </a:solidFill>
                <a:latin typeface="Segoe UI"/>
              </a:defRPr>
            </a:pPr>
            <a:r>
              <a:t>Vite Client Build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508760"/>
            <a:ext cx="164592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3984" y="1600200"/>
            <a:ext cx="14630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22D3EE"/>
                </a:solidFill>
                <a:latin typeface="Segoe UI"/>
              </a:defRPr>
            </a:pPr>
            <a:r>
              <a:t>15 Patents</a:t>
            </a:r>
          </a:p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DEVELOPMENT CORPUS</a:t>
            </a:r>
          </a:p>
          <a:p>
            <a:pPr algn="ctr">
              <a:defRPr sz="850">
                <a:solidFill>
                  <a:srgbClr val="94A3B8"/>
                </a:solidFill>
                <a:latin typeface="Segoe UI"/>
              </a:defRPr>
            </a:pPr>
            <a:r>
              <a:t>Public US Patents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508760"/>
            <a:ext cx="164592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1600200"/>
            <a:ext cx="14630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22D3EE"/>
                </a:solidFill>
                <a:latin typeface="Segoe UI"/>
              </a:defRPr>
            </a:pPr>
            <a:r>
              <a:t>78 Chunks</a:t>
            </a:r>
          </a:p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PATENT CHUNKS</a:t>
            </a:r>
          </a:p>
          <a:p>
            <a:pPr algn="ctr">
              <a:defRPr sz="850">
                <a:solidFill>
                  <a:srgbClr val="94A3B8"/>
                </a:solidFill>
                <a:latin typeface="Segoe UI"/>
              </a:defRPr>
            </a:pPr>
            <a:r>
              <a:t>Patent-Aware Split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8" y="1508760"/>
            <a:ext cx="164592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5008" y="1600200"/>
            <a:ext cx="14630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768-D</a:t>
            </a:r>
          </a:p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BGE EMBEDDINGS</a:t>
            </a:r>
          </a:p>
          <a:p>
            <a:pPr algn="ctr">
              <a:defRPr sz="850">
                <a:solidFill>
                  <a:srgbClr val="94A3B8"/>
                </a:solidFill>
                <a:latin typeface="Segoe UI"/>
              </a:defRPr>
            </a:pPr>
            <a:r>
              <a:t>Cosine Distance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1508760"/>
            <a:ext cx="164592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1600200"/>
            <a:ext cx="14630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A855F7"/>
                </a:solidFill>
                <a:latin typeface="Segoe UI"/>
              </a:defRPr>
            </a:pPr>
            <a:r>
              <a:t>0.19–0.28 ms</a:t>
            </a:r>
          </a:p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Segoe UI"/>
              </a:defRPr>
            </a:pPr>
            <a:r>
              <a:t>EB-PRE LATENCY</a:t>
            </a:r>
          </a:p>
          <a:p>
            <a:pPr algn="ctr">
              <a:defRPr sz="850">
                <a:solidFill>
                  <a:srgbClr val="94A3B8"/>
                </a:solidFill>
                <a:latin typeface="Segoe UI"/>
              </a:defRPr>
            </a:pPr>
            <a:r>
              <a:t>Deterministic Math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063240"/>
            <a:ext cx="5212080" cy="3246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2004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2D3EE"/>
                </a:solidFill>
                <a:latin typeface="Segoe UI"/>
              </a:defRPr>
            </a:pPr>
            <a:r>
              <a:t>VERIFIED ENGINE 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520440"/>
            <a:ext cx="475488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Full Lifecycle E2E Smoke Test: PASSED (`test_e2e_smoke.py`).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Pipeline Orchestrator Test: PASSED (`test_pipeline_orchestrator.py`).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Project CRUD Test: PASSED (`test_projects_api.py`).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BGE Cross-Encoder Reranker: Tested with batch size 8; top rerank score reached 0.9909.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Score Preservation: 0.00% drift between EB-PRE math and report layer.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Scientific Rigor: No invented accuracy, precision, or recall numbers.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063240"/>
            <a:ext cx="5239512" cy="3246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200400"/>
            <a:ext cx="487375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A855F7"/>
                </a:solidFill>
                <a:latin typeface="Segoe UI"/>
              </a:defRPr>
            </a:pPr>
            <a:r>
              <a:t>PERSISTENCE &amp; SCOPE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520440"/>
            <a:ext cx="475488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Honest Architectural Reporting for Review III: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Supabase Persistence: Implemented — remote verification pending.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  (Local developer demo store provides complete in-memory persistence fallback).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Corpus Scope: 15 public US patents in current development corpus.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Bounded Claim: No worldwide prior-art coverage claim.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Legal Scope: No legal patentability guarantee; engineering decision support only.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2D3EE"/>
                </a:solidFill>
                <a:latin typeface="Segoe UI"/>
              </a:defRPr>
            </a:pPr>
            <a:r>
              <a:t>STATUS &amp;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Implementation Status &amp; Project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Completed Review III baseline vs planned scope for Review IV integration and scale.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8006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REVIEW III — IMPLEMENTED &amp; TESTED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✓ FastAPI backend (ASGI endpoints, /api base path)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✓ React + Vite integration (React 19, Tailwind CSS)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✓ Authentication flow (Supabase JWT + Local Demo Mode)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✓ Project CRUD (List, create, get detail, delete)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✓ Document processing (PDF, DOCX, TXT parsers, section detection)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✓ Feature extraction (11 categories with provenance spans)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✓ Hybrid retrieval (BM25 lexical + BGE dense vectors via Qdrant)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✓ RRF fusion (k=60, candidate depth 20)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✓ Cross-encoder reranking (BAAI/bge-reranker-base)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✓ Evidence mapping (0.4 lex + 0.6 sem, 5-level relationships)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✓ Evidence Matrix (Traceable feature-evidence correspondence)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✓ EB-PRE scoring engine (Deterministic 6-dimension scoring)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✓ Confidence &amp; uncertainty (6 canonical risk flags)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✓ Gemini grounded reporting (Gemini 3.1 Pro + fallback)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✓ Persistence layer (Supabase repository + demo store)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✓ 171/171 backend tests passed &amp; frontend production build passed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✓ Full lifecycle E2E automated smoke test passed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39512" cy="48006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7375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REVIEW IV — INTEGRATION &amp;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Planned Work for Final Submission:</a:t>
            </a: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→ Remote Supabase configuration and verification</a:t>
            </a: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  Connect live cloud database credentials and verify production RLS.</a:t>
            </a: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→ Cloud RLS verification</a:t>
            </a: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  Multi-tenant security testing under live multi-user concurrency.</a:t>
            </a: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→ Larger patent corpus expansion</a:t>
            </a: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  Scale from 15 sample patents to 1,000+ full-text patent documents.</a:t>
            </a: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→ Production Gemini quota provisioning</a:t>
            </a: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  Obtain enterprise/paid API quota to eliminate free-tier 429 throttling.</a:t>
            </a: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→ Larger-scale retrieval evaluation</a:t>
            </a: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  Benchmark MRR@10 and Recall@20 against standard patent corpora.</a:t>
            </a: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→ Browser-level manual E2E validation &amp; deployment hardening</a:t>
            </a: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  Docker containerization and cloud hosting deployment.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2D3EE"/>
                </a:solidFill>
                <a:latin typeface="Segoe UI"/>
              </a:defRPr>
            </a:pPr>
            <a:r>
              <a:t>SUMMARY &amp; CITATIONS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Conclusion &amp; Academic Literature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Summary of accomplishments and foundational literature supporting PatentIQ.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029200" cy="48006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CONCLUSION &amp;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Core Accomplishment: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"PatentIQ introduces an evidence-first approach that moves beyond black-box similarity scores toward transparent, feature-level prior-art analysis."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"PatentIQ connects invention features with prior-art evidence to produce an explainable early-stage patent-readiness assessment."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Final Active Architecture: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Invention  →  Features  →  Prior Art  →  Evidence  →  Assessment  →  Report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Future Work: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Larger patent corpus (1,000+ documents)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Remote Supabase verification and cloud RLS validation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Browser-level validation and UI testing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Production-scale retrieval evaluation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Gemini production quota provisioning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Expanded empirical evaluation against patent examiner office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508760"/>
            <a:ext cx="5422392" cy="48006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645920"/>
            <a:ext cx="505663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2D3EE"/>
                </a:solidFill>
                <a:latin typeface="Segoe UI"/>
              </a:defRPr>
            </a:pPr>
            <a:r>
              <a:t>VERIFIED ACADEMIC 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11680"/>
            <a:ext cx="5029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Segoe UI"/>
              </a:defRPr>
            </a:pPr>
            <a:r>
              <a:t>1. Vowinckel &amp; Hähnke (2023) - SEARCHFORMER: Prior-Art Patent Search.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Segoe UI"/>
              </a:defRPr>
            </a:pPr>
            <a:r>
              <a:t>2. Higuchi &amp; Yanai (2023) - Patent Retrieval using Transformer Metric Learning.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Segoe UI"/>
              </a:defRPr>
            </a:pPr>
            <a:r>
              <a:t>3. Chikkamath et al. (2024) - Natural Query Understanding for Prior Art Search.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Segoe UI"/>
              </a:defRPr>
            </a:pPr>
            <a:r>
              <a:t>4. Stamatis et al. (2024) - A Novel Re-ranking Architecture for Patent Search.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Segoe UI"/>
              </a:defRPr>
            </a:pPr>
            <a:r>
              <a:t>5. Schmitt &amp; Denter (2024) - Modeling an Indicator for Statutory Patent Novelty.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Segoe UI"/>
              </a:defRPr>
            </a:pPr>
            <a:r>
              <a:t>6. Ali et al. (2024) - Innovating Patent Retrieval: A Comprehensive Review.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Segoe UI"/>
              </a:defRPr>
            </a:pPr>
            <a:r>
              <a:t>7. Siddharth &amp; Luo (2024) - RAG Using Engineering Design Knowledge.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Segoe UI"/>
              </a:defRPr>
            </a:pPr>
            <a:r>
              <a:t>8. Lee &amp; Bai (2025) - PAI-NET: Patent AI Network for Prior-Art Analysis.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Segoe UI"/>
              </a:defRPr>
            </a:pPr>
            <a:r>
              <a:t>9. Yoshikawa &amp; Krestel (2025) - Do LLMs Understand Patents? A Survey.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Segoe UI"/>
              </a:defRPr>
            </a:pPr>
            <a:r>
              <a:t>10. Ding et al. (2025) - Automatic Patent Literature Retrieval based on LLM-RAG.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Segoe UI"/>
              </a:defRPr>
            </a:pPr>
            <a:r>
              <a:t>11. Wang et al. (2025) - Patent Text Similarity with SAO Semantics.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Segoe UI"/>
              </a:defRPr>
            </a:pPr>
            <a:r>
              <a:t>12. Knappich et al. (SIGIR 2026) - Fine-Grained Novelty Prediction on Passages.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Segoe UI"/>
              </a:defRPr>
            </a:pPr>
            <a:r>
              <a:t>13. Robertson &amp; Zaragoza (2009) - The Probabilistic Relevance Framework: BM25.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Segoe UI"/>
              </a:defRPr>
            </a:pPr>
            <a:r>
              <a:t>14. Xiao et al. (2023) - C-Pack: Packaged Resources for General Embeddings (BGE).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Segoe UI"/>
              </a:defRPr>
            </a:pPr>
            <a:r>
              <a:t>15. Cormack et al. (2009) - Reciprocal Rank Fusion outperforms CombMNZ.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